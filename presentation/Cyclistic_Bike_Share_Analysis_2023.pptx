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311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public.tableau.com/app/profile/husnain.afzal/viz/CyclisticBikeShareAnalysis2023_17853281844600/RiderBehaviorAnalysi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5080"/>
            <a:ext cx="12191695" cy="502920"/>
          </a:xfrm>
          <a:prstGeom prst="rect">
            <a:avLst/>
          </a:prstGeom>
          <a:solidFill>
            <a:srgbClr val="1F4E79"/>
          </a:solidFill>
          <a:ln/>
        </p:spPr>
      </p:sp>
      <p:sp>
        <p:nvSpPr>
          <p:cNvPr id="3" name="Text 1"/>
          <p:cNvSpPr/>
          <p:nvPr/>
        </p:nvSpPr>
        <p:spPr>
          <a:xfrm>
            <a:off x="822960" y="2286000"/>
            <a:ext cx="1280160" cy="1280160"/>
          </a:xfrm>
          <a:prstGeom prst="rect">
            <a:avLst/>
          </a:prstGeom>
          <a:noFill/>
          <a:ln/>
        </p:spPr>
        <p:txBody>
          <a:bodyPr wrap="square" rtlCol="0" anchor="ctr"/>
          <a:lstStyle/>
          <a:p>
            <a:pPr marL="0" indent="0" algn="ctr">
              <a:buNone/>
            </a:pPr>
            <a:r>
              <a:rPr lang="en-US" sz="6000" dirty="0">
                <a:solidFill>
                  <a:srgbClr val="000000"/>
                </a:solidFill>
              </a:rPr>
              <a:t>🚲</a:t>
            </a:r>
            <a:endParaRPr lang="en-US" sz="6000" dirty="0"/>
          </a:p>
        </p:txBody>
      </p:sp>
      <p:sp>
        <p:nvSpPr>
          <p:cNvPr id="4" name="Text 2"/>
          <p:cNvSpPr/>
          <p:nvPr/>
        </p:nvSpPr>
        <p:spPr>
          <a:xfrm>
            <a:off x="10088575" y="2286000"/>
            <a:ext cx="1280160" cy="1280160"/>
          </a:xfrm>
          <a:prstGeom prst="rect">
            <a:avLst/>
          </a:prstGeom>
          <a:noFill/>
          <a:ln/>
        </p:spPr>
        <p:txBody>
          <a:bodyPr wrap="square" rtlCol="0" anchor="ctr"/>
          <a:lstStyle/>
          <a:p>
            <a:pPr marL="0" indent="0" algn="ctr">
              <a:buNone/>
            </a:pPr>
            <a:r>
              <a:rPr lang="en-US" sz="6000" dirty="0">
                <a:solidFill>
                  <a:srgbClr val="000000"/>
                </a:solidFill>
              </a:rPr>
              <a:t>📊</a:t>
            </a:r>
            <a:endParaRPr lang="en-US" sz="6000" dirty="0"/>
          </a:p>
        </p:txBody>
      </p:sp>
      <p:sp>
        <p:nvSpPr>
          <p:cNvPr id="5" name="Text 3"/>
          <p:cNvSpPr/>
          <p:nvPr/>
        </p:nvSpPr>
        <p:spPr>
          <a:xfrm>
            <a:off x="914400" y="2194560"/>
            <a:ext cx="10362895" cy="914400"/>
          </a:xfrm>
          <a:prstGeom prst="rect">
            <a:avLst/>
          </a:prstGeom>
          <a:noFill/>
          <a:ln/>
        </p:spPr>
        <p:txBody>
          <a:bodyPr wrap="square" rtlCol="0" anchor="ctr"/>
          <a:lstStyle/>
          <a:p>
            <a:pPr marL="0" indent="0" algn="ctr">
              <a:buNone/>
            </a:pPr>
            <a:r>
              <a:rPr lang="en-US" sz="3600" b="1" dirty="0">
                <a:solidFill>
                  <a:srgbClr val="1F4E79"/>
                </a:solidFill>
                <a:latin typeface="Calibri" pitchFamily="34" charset="0"/>
                <a:ea typeface="Calibri" pitchFamily="34" charset="-122"/>
                <a:cs typeface="Calibri" pitchFamily="34" charset="-120"/>
              </a:rPr>
              <a:t>Cyclistic Bike-Share Analysis — 2023</a:t>
            </a:r>
            <a:endParaRPr lang="en-US" sz="3600" dirty="0"/>
          </a:p>
        </p:txBody>
      </p:sp>
      <p:sp>
        <p:nvSpPr>
          <p:cNvPr id="6" name="Text 4"/>
          <p:cNvSpPr/>
          <p:nvPr/>
        </p:nvSpPr>
        <p:spPr>
          <a:xfrm>
            <a:off x="914400" y="3063240"/>
            <a:ext cx="10362895" cy="548640"/>
          </a:xfrm>
          <a:prstGeom prst="rect">
            <a:avLst/>
          </a:prstGeom>
          <a:noFill/>
          <a:ln/>
        </p:spPr>
        <p:txBody>
          <a:bodyPr wrap="square" rtlCol="0" anchor="ctr"/>
          <a:lstStyle/>
          <a:p>
            <a:pPr marL="0" indent="0" algn="ctr">
              <a:buNone/>
            </a:pPr>
            <a:r>
              <a:rPr lang="en-US" sz="2000" dirty="0">
                <a:solidFill>
                  <a:srgbClr val="F28E2B"/>
                </a:solidFill>
                <a:latin typeface="Calibri" pitchFamily="34" charset="0"/>
                <a:ea typeface="Calibri" pitchFamily="34" charset="-122"/>
                <a:cs typeface="Calibri" pitchFamily="34" charset="-120"/>
              </a:rPr>
              <a:t>Understanding Member and Casual Rider Behavior</a:t>
            </a:r>
            <a:endParaRPr lang="en-US" sz="2000" dirty="0"/>
          </a:p>
        </p:txBody>
      </p:sp>
      <p:sp>
        <p:nvSpPr>
          <p:cNvPr id="7" name="Text 5"/>
          <p:cNvSpPr/>
          <p:nvPr/>
        </p:nvSpPr>
        <p:spPr>
          <a:xfrm>
            <a:off x="914400" y="4206240"/>
            <a:ext cx="10362895" cy="1554480"/>
          </a:xfrm>
          <a:prstGeom prst="rect">
            <a:avLst/>
          </a:prstGeom>
          <a:noFill/>
          <a:ln/>
        </p:spPr>
        <p:txBody>
          <a:bodyPr wrap="square" rtlCol="0" anchor="t"/>
          <a:lstStyle/>
          <a:p>
            <a:pPr marL="0" indent="0" algn="ctr">
              <a:lnSpc>
                <a:spcPct val="115000"/>
              </a:lnSpc>
              <a:buNone/>
            </a:pPr>
            <a:r>
              <a:rPr lang="en-US" sz="1600" b="1" dirty="0">
                <a:solidFill>
                  <a:srgbClr val="1F4E79"/>
                </a:solidFill>
                <a:latin typeface="Calibri" pitchFamily="34" charset="0"/>
                <a:ea typeface="Calibri" pitchFamily="34" charset="-122"/>
                <a:cs typeface="Calibri" pitchFamily="34" charset="-120"/>
              </a:rPr>
              <a:t>Prepared By
</a:t>
            </a:r>
            <a:endParaRPr lang="en-US" sz="1600" dirty="0"/>
          </a:p>
          <a:p>
            <a:pPr marL="0" indent="0" algn="ctr">
              <a:lnSpc>
                <a:spcPct val="115000"/>
              </a:lnSpc>
              <a:buNone/>
            </a:pPr>
            <a:r>
              <a:rPr lang="en-US" sz="1500" dirty="0">
                <a:solidFill>
                  <a:srgbClr val="44546A"/>
                </a:solidFill>
                <a:latin typeface="Calibri" pitchFamily="34" charset="0"/>
                <a:ea typeface="Calibri" pitchFamily="34" charset="-122"/>
                <a:cs typeface="Calibri" pitchFamily="34" charset="-120"/>
              </a:rPr>
              <a:t>Husnain Afzal
</a:t>
            </a:r>
            <a:endParaRPr lang="en-US" sz="1600" dirty="0"/>
          </a:p>
          <a:p>
            <a:pPr marL="0" indent="0" algn="ctr">
              <a:lnSpc>
                <a:spcPct val="115000"/>
              </a:lnSpc>
              <a:buNone/>
            </a:pPr>
            <a:r>
              <a:rPr lang="en-US" sz="1400" dirty="0">
                <a:solidFill>
                  <a:srgbClr val="44546A"/>
                </a:solidFill>
                <a:latin typeface="Calibri" pitchFamily="34" charset="0"/>
                <a:ea typeface="Calibri" pitchFamily="34" charset="-122"/>
                <a:cs typeface="Calibri" pitchFamily="34" charset="-120"/>
              </a:rPr>
              <a:t>BS Data Science
</a:t>
            </a:r>
            <a:endParaRPr lang="en-US" sz="1600" dirty="0"/>
          </a:p>
          <a:p>
            <a:pPr marL="0" indent="0" algn="ctr">
              <a:lnSpc>
                <a:spcPct val="115000"/>
              </a:lnSpc>
              <a:buNone/>
            </a:pPr>
            <a:r>
              <a:rPr lang="en-US" sz="1400" dirty="0">
                <a:solidFill>
                  <a:srgbClr val="44546A"/>
                </a:solidFill>
                <a:latin typeface="Calibri" pitchFamily="34" charset="0"/>
                <a:ea typeface="Calibri" pitchFamily="34" charset="-122"/>
                <a:cs typeface="Calibri" pitchFamily="34" charset="-120"/>
              </a:rPr>
              <a:t>Government College University Faisalabad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Business Problem</a:t>
            </a:r>
            <a:endParaRPr lang="en-US" sz="3000" dirty="0"/>
          </a:p>
        </p:txBody>
      </p:sp>
      <p:sp>
        <p:nvSpPr>
          <p:cNvPr id="3" name="Shape 1"/>
          <p:cNvSpPr/>
          <p:nvPr/>
        </p:nvSpPr>
        <p:spPr>
          <a:xfrm>
            <a:off x="640080" y="1463040"/>
            <a:ext cx="1188720" cy="1188720"/>
          </a:xfrm>
          <a:prstGeom prst="ellipse">
            <a:avLst/>
          </a:prstGeom>
          <a:solidFill>
            <a:srgbClr val="EAF1F8"/>
          </a:solidFill>
          <a:ln/>
        </p:spPr>
      </p:sp>
      <p:sp>
        <p:nvSpPr>
          <p:cNvPr id="4" name="Text 2"/>
          <p:cNvSpPr/>
          <p:nvPr/>
        </p:nvSpPr>
        <p:spPr>
          <a:xfrm>
            <a:off x="640080" y="1463040"/>
            <a:ext cx="1188720" cy="1188720"/>
          </a:xfrm>
          <a:prstGeom prst="rect">
            <a:avLst/>
          </a:prstGeom>
          <a:noFill/>
          <a:ln/>
        </p:spPr>
        <p:txBody>
          <a:bodyPr wrap="square" rtlCol="0" anchor="ctr"/>
          <a:lstStyle/>
          <a:p>
            <a:pPr marL="0" indent="0" algn="ctr">
              <a:buNone/>
            </a:pPr>
            <a:r>
              <a:rPr lang="en-US" sz="4000" dirty="0">
                <a:solidFill>
                  <a:srgbClr val="000000"/>
                </a:solidFill>
              </a:rPr>
              <a:t>🎯</a:t>
            </a:r>
            <a:endParaRPr lang="en-US" sz="4000" dirty="0"/>
          </a:p>
        </p:txBody>
      </p:sp>
      <p:sp>
        <p:nvSpPr>
          <p:cNvPr id="5" name="Text 3"/>
          <p:cNvSpPr/>
          <p:nvPr/>
        </p:nvSpPr>
        <p:spPr>
          <a:xfrm>
            <a:off x="365760" y="2743200"/>
            <a:ext cx="1737360" cy="365760"/>
          </a:xfrm>
          <a:prstGeom prst="rect">
            <a:avLst/>
          </a:prstGeom>
          <a:noFill/>
          <a:ln/>
        </p:spPr>
        <p:txBody>
          <a:bodyPr wrap="square" rtlCol="0" anchor="ctr"/>
          <a:lstStyle/>
          <a:p>
            <a:pPr marL="0" indent="0" algn="ctr">
              <a:buNone/>
            </a:pPr>
            <a:r>
              <a:rPr lang="en-US" sz="1300" b="1" dirty="0">
                <a:solidFill>
                  <a:srgbClr val="1F4E79"/>
                </a:solidFill>
                <a:latin typeface="Calibri" pitchFamily="34" charset="0"/>
                <a:ea typeface="Calibri" pitchFamily="34" charset="-122"/>
                <a:cs typeface="Calibri" pitchFamily="34" charset="-120"/>
              </a:rPr>
              <a:t>Business Goal</a:t>
            </a:r>
            <a:endParaRPr lang="en-US" sz="1300" dirty="0"/>
          </a:p>
        </p:txBody>
      </p:sp>
      <p:sp>
        <p:nvSpPr>
          <p:cNvPr id="6" name="Text 4"/>
          <p:cNvSpPr/>
          <p:nvPr/>
        </p:nvSpPr>
        <p:spPr>
          <a:xfrm>
            <a:off x="2377440" y="1417320"/>
            <a:ext cx="6583680" cy="1737360"/>
          </a:xfrm>
          <a:prstGeom prst="rect">
            <a:avLst/>
          </a:prstGeom>
          <a:noFill/>
          <a:ln/>
        </p:spPr>
        <p:txBody>
          <a:bodyPr wrap="square" rtlCol="0" anchor="t"/>
          <a:lstStyle/>
          <a:p>
            <a:pPr marL="0" indent="0">
              <a:spcAft>
                <a:spcPts val="1400"/>
              </a:spcAft>
              <a:buNone/>
            </a:pPr>
            <a:r>
              <a:rPr lang="en-US" sz="1700" dirty="0">
                <a:solidFill>
                  <a:srgbClr val="44546A"/>
                </a:solidFill>
                <a:latin typeface="Calibri" pitchFamily="34" charset="0"/>
                <a:ea typeface="Calibri" pitchFamily="34" charset="-122"/>
                <a:cs typeface="Calibri" pitchFamily="34" charset="-120"/>
              </a:rPr>
              <a:t>Cyclistic is a bike-sharing company that wants to increase the number of annual members. To achieve this goal, the company needs to understand how casual riders and annual members use its bikes differently.</a:t>
            </a:r>
            <a:endParaRPr lang="en-US" sz="1700" dirty="0"/>
          </a:p>
        </p:txBody>
      </p:sp>
      <p:sp>
        <p:nvSpPr>
          <p:cNvPr id="7" name="Text 5"/>
          <p:cNvSpPr/>
          <p:nvPr/>
        </p:nvSpPr>
        <p:spPr>
          <a:xfrm>
            <a:off x="2377440" y="3200400"/>
            <a:ext cx="4572000" cy="457200"/>
          </a:xfrm>
          <a:prstGeom prst="rect">
            <a:avLst/>
          </a:prstGeom>
          <a:noFill/>
          <a:ln/>
        </p:spPr>
        <p:txBody>
          <a:bodyPr wrap="square" rtlCol="0" anchor="ctr"/>
          <a:lstStyle/>
          <a:p>
            <a:pPr marL="0" indent="0">
              <a:buNone/>
            </a:pPr>
            <a:r>
              <a:rPr lang="en-US" sz="2000" b="1" dirty="0">
                <a:solidFill>
                  <a:srgbClr val="F28E2B"/>
                </a:solidFill>
                <a:latin typeface="Calibri" pitchFamily="34" charset="0"/>
                <a:ea typeface="Calibri" pitchFamily="34" charset="-122"/>
                <a:cs typeface="Calibri" pitchFamily="34" charset="-120"/>
              </a:rPr>
              <a:t>Objective</a:t>
            </a:r>
            <a:endParaRPr lang="en-US" sz="2000" dirty="0"/>
          </a:p>
        </p:txBody>
      </p:sp>
      <p:sp>
        <p:nvSpPr>
          <p:cNvPr id="8" name="Text 6"/>
          <p:cNvSpPr/>
          <p:nvPr/>
        </p:nvSpPr>
        <p:spPr>
          <a:xfrm>
            <a:off x="2377440" y="3703320"/>
            <a:ext cx="6583680" cy="2011680"/>
          </a:xfrm>
          <a:prstGeom prst="rect">
            <a:avLst/>
          </a:prstGeom>
          <a:noFill/>
          <a:ln/>
        </p:spPr>
        <p:txBody>
          <a:bodyPr wrap="square" rtlCol="0" anchor="t"/>
          <a:lstStyle/>
          <a:p>
            <a:pPr marL="342900" indent="-342900">
              <a:spcAft>
                <a:spcPts val="1000"/>
              </a:spcAft>
              <a:buSzPct val="100000"/>
              <a:buChar char="●"/>
            </a:pPr>
            <a:r>
              <a:rPr lang="en-US" sz="1700" dirty="0">
                <a:solidFill>
                  <a:srgbClr val="44546A"/>
                </a:solidFill>
                <a:latin typeface="Calibri" pitchFamily="34" charset="0"/>
                <a:ea typeface="Calibri" pitchFamily="34" charset="-122"/>
                <a:cs typeface="Calibri" pitchFamily="34" charset="-120"/>
              </a:rPr>
              <a:t>Analyze riding behavior.</a:t>
            </a:r>
            <a:endParaRPr lang="en-US" sz="1700" dirty="0"/>
          </a:p>
          <a:p>
            <a:pPr marL="342900" indent="-342900">
              <a:spcAft>
                <a:spcPts val="1000"/>
              </a:spcAft>
              <a:buSzPct val="100000"/>
              <a:buChar char="●"/>
            </a:pPr>
            <a:r>
              <a:rPr lang="en-US" sz="1700" dirty="0">
                <a:solidFill>
                  <a:srgbClr val="44546A"/>
                </a:solidFill>
                <a:latin typeface="Calibri" pitchFamily="34" charset="0"/>
                <a:ea typeface="Calibri" pitchFamily="34" charset="-122"/>
                <a:cs typeface="Calibri" pitchFamily="34" charset="-120"/>
              </a:rPr>
              <a:t>Compare members and casual riders.</a:t>
            </a:r>
            <a:endParaRPr lang="en-US" sz="1700" dirty="0"/>
          </a:p>
          <a:p>
            <a:pPr marL="342900" indent="-342900">
              <a:spcAft>
                <a:spcPts val="1000"/>
              </a:spcAft>
              <a:buSzPct val="100000"/>
              <a:buChar char="●"/>
            </a:pPr>
            <a:r>
              <a:rPr lang="en-US" sz="1700" dirty="0">
                <a:solidFill>
                  <a:srgbClr val="44546A"/>
                </a:solidFill>
                <a:latin typeface="Calibri" pitchFamily="34" charset="0"/>
                <a:ea typeface="Calibri" pitchFamily="34" charset="-122"/>
                <a:cs typeface="Calibri" pitchFamily="34" charset="-120"/>
              </a:rPr>
              <a:t>Identify usage patterns.</a:t>
            </a:r>
            <a:endParaRPr lang="en-US" sz="1700" dirty="0"/>
          </a:p>
          <a:p>
            <a:pPr marL="342900" indent="-342900">
              <a:spcAft>
                <a:spcPts val="1000"/>
              </a:spcAft>
              <a:buSzPct val="100000"/>
              <a:buChar char="●"/>
            </a:pPr>
            <a:r>
              <a:rPr lang="en-US" sz="1700" dirty="0">
                <a:solidFill>
                  <a:srgbClr val="44546A"/>
                </a:solidFill>
                <a:latin typeface="Calibri" pitchFamily="34" charset="0"/>
                <a:ea typeface="Calibri" pitchFamily="34" charset="-122"/>
                <a:cs typeface="Calibri" pitchFamily="34" charset="-120"/>
              </a:rPr>
              <a:t>Recommend strategies to increase memberships.</a:t>
            </a:r>
            <a:endParaRPr lang="en-US" sz="1700" dirty="0"/>
          </a:p>
        </p:txBody>
      </p:sp>
      <p:sp>
        <p:nvSpPr>
          <p:cNvPr id="9" name="Shape 7"/>
          <p:cNvSpPr/>
          <p:nvPr/>
        </p:nvSpPr>
        <p:spPr>
          <a:xfrm>
            <a:off x="9509760" y="1737360"/>
            <a:ext cx="2011680" cy="2011680"/>
          </a:xfrm>
          <a:prstGeom prst="ellipse">
            <a:avLst/>
          </a:prstGeom>
          <a:solidFill>
            <a:srgbClr val="FDEEE0"/>
          </a:solidFill>
          <a:ln w="25400">
            <a:solidFill>
              <a:srgbClr val="F28E2B"/>
            </a:solidFill>
            <a:prstDash val="solid"/>
          </a:ln>
        </p:spPr>
      </p:sp>
      <p:sp>
        <p:nvSpPr>
          <p:cNvPr id="10" name="Shape 8"/>
          <p:cNvSpPr/>
          <p:nvPr/>
        </p:nvSpPr>
        <p:spPr>
          <a:xfrm>
            <a:off x="9921240" y="2148840"/>
            <a:ext cx="1188720" cy="1188720"/>
          </a:xfrm>
          <a:prstGeom prst="ellipse">
            <a:avLst/>
          </a:prstGeom>
          <a:solidFill>
            <a:srgbClr val="FFFFFF"/>
          </a:solidFill>
          <a:ln w="25400">
            <a:solidFill>
              <a:srgbClr val="F28E2B"/>
            </a:solidFill>
            <a:prstDash val="solid"/>
          </a:ln>
        </p:spPr>
      </p:sp>
      <p:sp>
        <p:nvSpPr>
          <p:cNvPr id="11" name="Shape 9"/>
          <p:cNvSpPr/>
          <p:nvPr/>
        </p:nvSpPr>
        <p:spPr>
          <a:xfrm>
            <a:off x="10287000" y="2514600"/>
            <a:ext cx="457200" cy="457200"/>
          </a:xfrm>
          <a:prstGeom prst="ellipse">
            <a:avLst/>
          </a:prstGeom>
          <a:solidFill>
            <a:srgbClr val="F28E2B"/>
          </a:solidFill>
          <a:ln/>
        </p:spPr>
      </p:sp>
      <p:sp>
        <p:nvSpPr>
          <p:cNvPr id="12" name="Text 10"/>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Project Workflow</a:t>
            </a:r>
            <a:endParaRPr lang="en-US" sz="3000" dirty="0"/>
          </a:p>
        </p:txBody>
      </p:sp>
      <p:sp>
        <p:nvSpPr>
          <p:cNvPr id="3" name="Shape 1"/>
          <p:cNvSpPr/>
          <p:nvPr/>
        </p:nvSpPr>
        <p:spPr>
          <a:xfrm>
            <a:off x="769468" y="1737360"/>
            <a:ext cx="1874520" cy="1051560"/>
          </a:xfrm>
          <a:prstGeom prst="roundRect">
            <a:avLst>
              <a:gd name="adj" fmla="val 10435"/>
            </a:avLst>
          </a:prstGeom>
          <a:solidFill>
            <a:srgbClr val="1F4E79"/>
          </a:solidFill>
          <a:ln/>
          <a:effectLst>
            <a:outerShdw blurRad="50800" dist="25400" dir="5400000" algn="bl" rotWithShape="0">
              <a:srgbClr val="666666">
                <a:alpha val="25000"/>
              </a:srgbClr>
            </a:outerShdw>
          </a:effectLst>
        </p:spPr>
      </p:sp>
      <p:sp>
        <p:nvSpPr>
          <p:cNvPr id="4" name="Text 2"/>
          <p:cNvSpPr/>
          <p:nvPr/>
        </p:nvSpPr>
        <p:spPr>
          <a:xfrm>
            <a:off x="769468" y="1737360"/>
            <a:ext cx="1874520" cy="10515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CSV Files</a:t>
            </a:r>
            <a:endParaRPr lang="en-US" sz="1500" dirty="0"/>
          </a:p>
        </p:txBody>
      </p:sp>
      <p:sp>
        <p:nvSpPr>
          <p:cNvPr id="5" name="Text 3"/>
          <p:cNvSpPr/>
          <p:nvPr/>
        </p:nvSpPr>
        <p:spPr>
          <a:xfrm>
            <a:off x="2643988" y="1737360"/>
            <a:ext cx="320040" cy="1051560"/>
          </a:xfrm>
          <a:prstGeom prst="rect">
            <a:avLst/>
          </a:prstGeom>
          <a:noFill/>
          <a:ln/>
        </p:spPr>
        <p:txBody>
          <a:bodyPr wrap="square" rtlCol="0" anchor="ctr"/>
          <a:lstStyle/>
          <a:p>
            <a:pPr marL="0" indent="0" algn="ctr">
              <a:buNone/>
            </a:pPr>
            <a:r>
              <a:rPr lang="en-US" sz="2000" b="1" dirty="0">
                <a:solidFill>
                  <a:srgbClr val="F28E2B"/>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2964028" y="1737360"/>
            <a:ext cx="1874520" cy="1051560"/>
          </a:xfrm>
          <a:prstGeom prst="roundRect">
            <a:avLst>
              <a:gd name="adj" fmla="val 10435"/>
            </a:avLst>
          </a:prstGeom>
          <a:solidFill>
            <a:srgbClr val="1F4E79"/>
          </a:solidFill>
          <a:ln/>
          <a:effectLst>
            <a:outerShdw blurRad="50800" dist="25400" dir="5400000" algn="bl" rotWithShape="0">
              <a:srgbClr val="666666">
                <a:alpha val="25000"/>
              </a:srgbClr>
            </a:outerShdw>
          </a:effectLst>
        </p:spPr>
      </p:sp>
      <p:sp>
        <p:nvSpPr>
          <p:cNvPr id="7" name="Text 5"/>
          <p:cNvSpPr/>
          <p:nvPr/>
        </p:nvSpPr>
        <p:spPr>
          <a:xfrm>
            <a:off x="2964028" y="1737360"/>
            <a:ext cx="1874520" cy="10515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Excel</a:t>
            </a:r>
            <a:endParaRPr lang="en-US" sz="1500" dirty="0"/>
          </a:p>
        </p:txBody>
      </p:sp>
      <p:sp>
        <p:nvSpPr>
          <p:cNvPr id="8" name="Text 6"/>
          <p:cNvSpPr/>
          <p:nvPr/>
        </p:nvSpPr>
        <p:spPr>
          <a:xfrm>
            <a:off x="4838548" y="1737360"/>
            <a:ext cx="320040" cy="1051560"/>
          </a:xfrm>
          <a:prstGeom prst="rect">
            <a:avLst/>
          </a:prstGeom>
          <a:noFill/>
          <a:ln/>
        </p:spPr>
        <p:txBody>
          <a:bodyPr wrap="square" rtlCol="0" anchor="ctr"/>
          <a:lstStyle/>
          <a:p>
            <a:pPr marL="0" indent="0" algn="ctr">
              <a:buNone/>
            </a:pPr>
            <a:r>
              <a:rPr lang="en-US" sz="2000" b="1" dirty="0">
                <a:solidFill>
                  <a:srgbClr val="F28E2B"/>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5158588" y="1737360"/>
            <a:ext cx="1874520" cy="1051560"/>
          </a:xfrm>
          <a:prstGeom prst="roundRect">
            <a:avLst>
              <a:gd name="adj" fmla="val 10435"/>
            </a:avLst>
          </a:prstGeom>
          <a:solidFill>
            <a:srgbClr val="1F4E79"/>
          </a:solidFill>
          <a:ln/>
          <a:effectLst>
            <a:outerShdw blurRad="50800" dist="25400" dir="5400000" algn="bl" rotWithShape="0">
              <a:srgbClr val="666666">
                <a:alpha val="25000"/>
              </a:srgbClr>
            </a:outerShdw>
          </a:effectLst>
        </p:spPr>
      </p:sp>
      <p:sp>
        <p:nvSpPr>
          <p:cNvPr id="10" name="Text 8"/>
          <p:cNvSpPr/>
          <p:nvPr/>
        </p:nvSpPr>
        <p:spPr>
          <a:xfrm>
            <a:off x="5158588" y="1737360"/>
            <a:ext cx="1874520" cy="10515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MySQL</a:t>
            </a:r>
            <a:endParaRPr lang="en-US" sz="1500" dirty="0"/>
          </a:p>
        </p:txBody>
      </p:sp>
      <p:sp>
        <p:nvSpPr>
          <p:cNvPr id="11" name="Text 9"/>
          <p:cNvSpPr/>
          <p:nvPr/>
        </p:nvSpPr>
        <p:spPr>
          <a:xfrm>
            <a:off x="7033108" y="1737360"/>
            <a:ext cx="320040" cy="1051560"/>
          </a:xfrm>
          <a:prstGeom prst="rect">
            <a:avLst/>
          </a:prstGeom>
          <a:noFill/>
          <a:ln/>
        </p:spPr>
        <p:txBody>
          <a:bodyPr wrap="square" rtlCol="0" anchor="ctr"/>
          <a:lstStyle/>
          <a:p>
            <a:pPr marL="0" indent="0" algn="ctr">
              <a:buNone/>
            </a:pPr>
            <a:r>
              <a:rPr lang="en-US" sz="2000" b="1" dirty="0">
                <a:solidFill>
                  <a:srgbClr val="F28E2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7353148" y="1737360"/>
            <a:ext cx="1874520" cy="1051560"/>
          </a:xfrm>
          <a:prstGeom prst="roundRect">
            <a:avLst>
              <a:gd name="adj" fmla="val 10435"/>
            </a:avLst>
          </a:prstGeom>
          <a:solidFill>
            <a:srgbClr val="1F4E79"/>
          </a:solidFill>
          <a:ln/>
          <a:effectLst>
            <a:outerShdw blurRad="50800" dist="25400" dir="5400000" algn="bl" rotWithShape="0">
              <a:srgbClr val="666666">
                <a:alpha val="25000"/>
              </a:srgbClr>
            </a:outerShdw>
          </a:effectLst>
        </p:spPr>
      </p:sp>
      <p:sp>
        <p:nvSpPr>
          <p:cNvPr id="13" name="Text 11"/>
          <p:cNvSpPr/>
          <p:nvPr/>
        </p:nvSpPr>
        <p:spPr>
          <a:xfrm>
            <a:off x="7353148" y="1737360"/>
            <a:ext cx="1874520" cy="10515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Tableau</a:t>
            </a:r>
            <a:endParaRPr lang="en-US" sz="1500" dirty="0"/>
          </a:p>
        </p:txBody>
      </p:sp>
      <p:sp>
        <p:nvSpPr>
          <p:cNvPr id="14" name="Text 12"/>
          <p:cNvSpPr/>
          <p:nvPr/>
        </p:nvSpPr>
        <p:spPr>
          <a:xfrm>
            <a:off x="9227668" y="1737360"/>
            <a:ext cx="320040" cy="1051560"/>
          </a:xfrm>
          <a:prstGeom prst="rect">
            <a:avLst/>
          </a:prstGeom>
          <a:noFill/>
          <a:ln/>
        </p:spPr>
        <p:txBody>
          <a:bodyPr wrap="square" rtlCol="0" anchor="ctr"/>
          <a:lstStyle/>
          <a:p>
            <a:pPr marL="0" indent="0" algn="ctr">
              <a:buNone/>
            </a:pPr>
            <a:r>
              <a:rPr lang="en-US" sz="2000" b="1" dirty="0">
                <a:solidFill>
                  <a:srgbClr val="F28E2B"/>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9547708" y="1737360"/>
            <a:ext cx="1874520" cy="1051560"/>
          </a:xfrm>
          <a:prstGeom prst="roundRect">
            <a:avLst>
              <a:gd name="adj" fmla="val 10435"/>
            </a:avLst>
          </a:prstGeom>
          <a:solidFill>
            <a:srgbClr val="F28E2B"/>
          </a:solidFill>
          <a:ln/>
          <a:effectLst>
            <a:outerShdw blurRad="50800" dist="25400" dir="5400000" algn="bl" rotWithShape="0">
              <a:srgbClr val="666666">
                <a:alpha val="25000"/>
              </a:srgbClr>
            </a:outerShdw>
          </a:effectLst>
        </p:spPr>
      </p:sp>
      <p:sp>
        <p:nvSpPr>
          <p:cNvPr id="16" name="Text 14"/>
          <p:cNvSpPr/>
          <p:nvPr/>
        </p:nvSpPr>
        <p:spPr>
          <a:xfrm>
            <a:off x="9547708" y="1737360"/>
            <a:ext cx="1874520" cy="10515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Business</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Recommendations</a:t>
            </a:r>
            <a:endParaRPr lang="en-US" sz="1500" dirty="0"/>
          </a:p>
        </p:txBody>
      </p:sp>
      <p:sp>
        <p:nvSpPr>
          <p:cNvPr id="17" name="Text 15"/>
          <p:cNvSpPr/>
          <p:nvPr/>
        </p:nvSpPr>
        <p:spPr>
          <a:xfrm>
            <a:off x="548640" y="3246120"/>
            <a:ext cx="5486400" cy="457200"/>
          </a:xfrm>
          <a:prstGeom prst="rect">
            <a:avLst/>
          </a:prstGeom>
          <a:noFill/>
          <a:ln/>
        </p:spPr>
        <p:txBody>
          <a:bodyPr wrap="square" rtlCol="0" anchor="ctr"/>
          <a:lstStyle/>
          <a:p>
            <a:pPr marL="0" indent="0">
              <a:buNone/>
            </a:pPr>
            <a:r>
              <a:rPr lang="en-US" sz="2200" b="1" dirty="0">
                <a:solidFill>
                  <a:srgbClr val="1F4E79"/>
                </a:solidFill>
                <a:latin typeface="Calibri" pitchFamily="34" charset="0"/>
                <a:ea typeface="Calibri" pitchFamily="34" charset="-122"/>
                <a:cs typeface="Calibri" pitchFamily="34" charset="-120"/>
              </a:rPr>
              <a:t>Tools Used</a:t>
            </a:r>
            <a:endParaRPr lang="en-US" sz="2200" dirty="0"/>
          </a:p>
        </p:txBody>
      </p:sp>
      <p:sp>
        <p:nvSpPr>
          <p:cNvPr id="18" name="Shape 16"/>
          <p:cNvSpPr/>
          <p:nvPr/>
        </p:nvSpPr>
        <p:spPr>
          <a:xfrm>
            <a:off x="655168" y="3840480"/>
            <a:ext cx="3383280" cy="1737360"/>
          </a:xfrm>
          <a:prstGeom prst="roundRect">
            <a:avLst>
              <a:gd name="adj" fmla="val 5263"/>
            </a:avLst>
          </a:prstGeom>
          <a:solidFill>
            <a:srgbClr val="EAF1F8"/>
          </a:solidFill>
          <a:ln/>
        </p:spPr>
      </p:sp>
      <p:sp>
        <p:nvSpPr>
          <p:cNvPr id="19" name="Text 17"/>
          <p:cNvSpPr/>
          <p:nvPr/>
        </p:nvSpPr>
        <p:spPr>
          <a:xfrm>
            <a:off x="655168" y="3977640"/>
            <a:ext cx="338328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0" name="Text 18"/>
          <p:cNvSpPr/>
          <p:nvPr/>
        </p:nvSpPr>
        <p:spPr>
          <a:xfrm>
            <a:off x="792328" y="4663440"/>
            <a:ext cx="3108960" cy="411480"/>
          </a:xfrm>
          <a:prstGeom prst="rect">
            <a:avLst/>
          </a:prstGeom>
          <a:noFill/>
          <a:ln/>
        </p:spPr>
        <p:txBody>
          <a:bodyPr wrap="square" rtlCol="0" anchor="ctr"/>
          <a:lstStyle/>
          <a:p>
            <a:pPr marL="0" indent="0" algn="ctr">
              <a:buNone/>
            </a:pPr>
            <a:r>
              <a:rPr lang="en-US" sz="1500" b="1" dirty="0">
                <a:solidFill>
                  <a:srgbClr val="1F4E79"/>
                </a:solidFill>
                <a:latin typeface="Calibri" pitchFamily="34" charset="0"/>
                <a:ea typeface="Calibri" pitchFamily="34" charset="-122"/>
                <a:cs typeface="Calibri" pitchFamily="34" charset="-120"/>
              </a:rPr>
              <a:t>Microsoft Excel</a:t>
            </a:r>
            <a:endParaRPr lang="en-US" sz="1500" dirty="0"/>
          </a:p>
        </p:txBody>
      </p:sp>
      <p:sp>
        <p:nvSpPr>
          <p:cNvPr id="21" name="Text 19"/>
          <p:cNvSpPr/>
          <p:nvPr/>
        </p:nvSpPr>
        <p:spPr>
          <a:xfrm>
            <a:off x="792328" y="5074920"/>
            <a:ext cx="3108960" cy="411480"/>
          </a:xfrm>
          <a:prstGeom prst="rect">
            <a:avLst/>
          </a:prstGeom>
          <a:noFill/>
          <a:ln/>
        </p:spPr>
        <p:txBody>
          <a:bodyPr wrap="square" rtlCol="0" anchor="ctr"/>
          <a:lstStyle/>
          <a:p>
            <a:pPr marL="0" indent="0" algn="ctr">
              <a:buNone/>
            </a:pPr>
            <a:r>
              <a:rPr lang="en-US" sz="1150" dirty="0">
                <a:solidFill>
                  <a:srgbClr val="44546A"/>
                </a:solidFill>
                <a:latin typeface="Calibri" pitchFamily="34" charset="0"/>
                <a:ea typeface="Calibri" pitchFamily="34" charset="-122"/>
                <a:cs typeface="Calibri" pitchFamily="34" charset="-120"/>
              </a:rPr>
              <a:t>Data cleaning &amp; preparation</a:t>
            </a:r>
            <a:endParaRPr lang="en-US" sz="1150" dirty="0"/>
          </a:p>
        </p:txBody>
      </p:sp>
      <p:sp>
        <p:nvSpPr>
          <p:cNvPr id="22" name="Shape 20"/>
          <p:cNvSpPr/>
          <p:nvPr/>
        </p:nvSpPr>
        <p:spPr>
          <a:xfrm>
            <a:off x="4404208" y="3840480"/>
            <a:ext cx="3383280" cy="1737360"/>
          </a:xfrm>
          <a:prstGeom prst="roundRect">
            <a:avLst>
              <a:gd name="adj" fmla="val 5263"/>
            </a:avLst>
          </a:prstGeom>
          <a:solidFill>
            <a:srgbClr val="EAF1F8"/>
          </a:solidFill>
          <a:ln/>
        </p:spPr>
      </p:sp>
      <p:sp>
        <p:nvSpPr>
          <p:cNvPr id="23" name="Text 21"/>
          <p:cNvSpPr/>
          <p:nvPr/>
        </p:nvSpPr>
        <p:spPr>
          <a:xfrm>
            <a:off x="4404208" y="3977640"/>
            <a:ext cx="338328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4" name="Text 22"/>
          <p:cNvSpPr/>
          <p:nvPr/>
        </p:nvSpPr>
        <p:spPr>
          <a:xfrm>
            <a:off x="4541368" y="4663440"/>
            <a:ext cx="3108960" cy="411480"/>
          </a:xfrm>
          <a:prstGeom prst="rect">
            <a:avLst/>
          </a:prstGeom>
          <a:noFill/>
          <a:ln/>
        </p:spPr>
        <p:txBody>
          <a:bodyPr wrap="square" rtlCol="0" anchor="ctr"/>
          <a:lstStyle/>
          <a:p>
            <a:pPr marL="0" indent="0" algn="ctr">
              <a:buNone/>
            </a:pPr>
            <a:r>
              <a:rPr lang="en-US" sz="1500" b="1" dirty="0">
                <a:solidFill>
                  <a:srgbClr val="1F4E79"/>
                </a:solidFill>
                <a:latin typeface="Calibri" pitchFamily="34" charset="0"/>
                <a:ea typeface="Calibri" pitchFamily="34" charset="-122"/>
                <a:cs typeface="Calibri" pitchFamily="34" charset="-120"/>
              </a:rPr>
              <a:t>MySQL Workbench</a:t>
            </a:r>
            <a:endParaRPr lang="en-US" sz="1500" dirty="0"/>
          </a:p>
        </p:txBody>
      </p:sp>
      <p:sp>
        <p:nvSpPr>
          <p:cNvPr id="25" name="Text 23"/>
          <p:cNvSpPr/>
          <p:nvPr/>
        </p:nvSpPr>
        <p:spPr>
          <a:xfrm>
            <a:off x="4541368" y="5074920"/>
            <a:ext cx="3108960" cy="411480"/>
          </a:xfrm>
          <a:prstGeom prst="rect">
            <a:avLst/>
          </a:prstGeom>
          <a:noFill/>
          <a:ln/>
        </p:spPr>
        <p:txBody>
          <a:bodyPr wrap="square" rtlCol="0" anchor="ctr"/>
          <a:lstStyle/>
          <a:p>
            <a:pPr marL="0" indent="0" algn="ctr">
              <a:buNone/>
            </a:pPr>
            <a:r>
              <a:rPr lang="en-US" sz="1150" dirty="0">
                <a:solidFill>
                  <a:srgbClr val="44546A"/>
                </a:solidFill>
                <a:latin typeface="Calibri" pitchFamily="34" charset="0"/>
                <a:ea typeface="Calibri" pitchFamily="34" charset="-122"/>
                <a:cs typeface="Calibri" pitchFamily="34" charset="-120"/>
              </a:rPr>
              <a:t>Data querying &amp; analysis</a:t>
            </a:r>
            <a:endParaRPr lang="en-US" sz="1150" dirty="0"/>
          </a:p>
        </p:txBody>
      </p:sp>
      <p:sp>
        <p:nvSpPr>
          <p:cNvPr id="26" name="Shape 24"/>
          <p:cNvSpPr/>
          <p:nvPr/>
        </p:nvSpPr>
        <p:spPr>
          <a:xfrm>
            <a:off x="8153248" y="3840480"/>
            <a:ext cx="3383280" cy="1737360"/>
          </a:xfrm>
          <a:prstGeom prst="roundRect">
            <a:avLst>
              <a:gd name="adj" fmla="val 5263"/>
            </a:avLst>
          </a:prstGeom>
          <a:solidFill>
            <a:srgbClr val="EAF1F8"/>
          </a:solidFill>
          <a:ln/>
        </p:spPr>
      </p:sp>
      <p:sp>
        <p:nvSpPr>
          <p:cNvPr id="27" name="Text 25"/>
          <p:cNvSpPr/>
          <p:nvPr/>
        </p:nvSpPr>
        <p:spPr>
          <a:xfrm>
            <a:off x="8153248" y="3977640"/>
            <a:ext cx="338328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8" name="Text 26"/>
          <p:cNvSpPr/>
          <p:nvPr/>
        </p:nvSpPr>
        <p:spPr>
          <a:xfrm>
            <a:off x="8290408" y="4663440"/>
            <a:ext cx="3108960" cy="411480"/>
          </a:xfrm>
          <a:prstGeom prst="rect">
            <a:avLst/>
          </a:prstGeom>
          <a:noFill/>
          <a:ln/>
        </p:spPr>
        <p:txBody>
          <a:bodyPr wrap="square" rtlCol="0" anchor="ctr"/>
          <a:lstStyle/>
          <a:p>
            <a:pPr marL="0" indent="0" algn="ctr">
              <a:buNone/>
            </a:pPr>
            <a:r>
              <a:rPr lang="en-US" sz="1500" b="1" dirty="0">
                <a:solidFill>
                  <a:srgbClr val="1F4E79"/>
                </a:solidFill>
                <a:latin typeface="Calibri" pitchFamily="34" charset="0"/>
                <a:ea typeface="Calibri" pitchFamily="34" charset="-122"/>
                <a:cs typeface="Calibri" pitchFamily="34" charset="-120"/>
              </a:rPr>
              <a:t>Tableau Public</a:t>
            </a:r>
            <a:endParaRPr lang="en-US" sz="1500" dirty="0"/>
          </a:p>
        </p:txBody>
      </p:sp>
      <p:sp>
        <p:nvSpPr>
          <p:cNvPr id="29" name="Text 27"/>
          <p:cNvSpPr/>
          <p:nvPr/>
        </p:nvSpPr>
        <p:spPr>
          <a:xfrm>
            <a:off x="8290408" y="5074920"/>
            <a:ext cx="3108960" cy="411480"/>
          </a:xfrm>
          <a:prstGeom prst="rect">
            <a:avLst/>
          </a:prstGeom>
          <a:noFill/>
          <a:ln/>
        </p:spPr>
        <p:txBody>
          <a:bodyPr wrap="square" rtlCol="0" anchor="ctr"/>
          <a:lstStyle/>
          <a:p>
            <a:pPr marL="0" indent="0" algn="ctr">
              <a:buNone/>
            </a:pPr>
            <a:r>
              <a:rPr lang="en-US" sz="1150" dirty="0">
                <a:solidFill>
                  <a:srgbClr val="44546A"/>
                </a:solidFill>
                <a:latin typeface="Calibri" pitchFamily="34" charset="0"/>
                <a:ea typeface="Calibri" pitchFamily="34" charset="-122"/>
                <a:cs typeface="Calibri" pitchFamily="34" charset="-120"/>
              </a:rPr>
              <a:t>Interactive visualization</a:t>
            </a:r>
            <a:endParaRPr lang="en-US" sz="1150" dirty="0"/>
          </a:p>
        </p:txBody>
      </p:sp>
      <p:sp>
        <p:nvSpPr>
          <p:cNvPr id="30" name="Text 28"/>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Dataset Overview</a:t>
            </a:r>
            <a:endParaRPr lang="en-US" sz="3000" dirty="0"/>
          </a:p>
        </p:txBody>
      </p:sp>
      <p:sp>
        <p:nvSpPr>
          <p:cNvPr id="3" name="Shape 1"/>
          <p:cNvSpPr/>
          <p:nvPr/>
        </p:nvSpPr>
        <p:spPr>
          <a:xfrm>
            <a:off x="481432" y="1463040"/>
            <a:ext cx="2084832" cy="2103120"/>
          </a:xfrm>
          <a:prstGeom prst="roundRect">
            <a:avLst>
              <a:gd name="adj" fmla="val 4386"/>
            </a:avLst>
          </a:prstGeom>
          <a:solidFill>
            <a:srgbClr val="1F4E79"/>
          </a:solidFill>
          <a:ln/>
          <a:effectLst>
            <a:outerShdw blurRad="63500" dist="25400" dir="5400000" algn="bl" rotWithShape="0">
              <a:srgbClr val="444444">
                <a:alpha val="25000"/>
              </a:srgbClr>
            </a:outerShdw>
          </a:effectLst>
        </p:spPr>
      </p:sp>
      <p:sp>
        <p:nvSpPr>
          <p:cNvPr id="4" name="Text 2"/>
          <p:cNvSpPr/>
          <p:nvPr/>
        </p:nvSpPr>
        <p:spPr>
          <a:xfrm>
            <a:off x="481432" y="1645920"/>
            <a:ext cx="2084832"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572872" y="2331720"/>
            <a:ext cx="1901952" cy="365760"/>
          </a:xfrm>
          <a:prstGeom prst="rect">
            <a:avLst/>
          </a:prstGeom>
          <a:noFill/>
          <a:ln/>
        </p:spPr>
        <p:txBody>
          <a:bodyPr wrap="square" rtlCol="0" anchor="ctr"/>
          <a:lstStyle/>
          <a:p>
            <a:pPr marL="0" indent="0" algn="ctr">
              <a:buNone/>
            </a:pPr>
            <a:r>
              <a:rPr lang="en-US" sz="1300" dirty="0">
                <a:solidFill>
                  <a:srgbClr val="BFD3E8"/>
                </a:solidFill>
                <a:latin typeface="Calibri" pitchFamily="34" charset="0"/>
                <a:ea typeface="Calibri" pitchFamily="34" charset="-122"/>
                <a:cs typeface="Calibri" pitchFamily="34" charset="-120"/>
              </a:rPr>
              <a:t>Dataset</a:t>
            </a:r>
            <a:endParaRPr lang="en-US" sz="1300" dirty="0"/>
          </a:p>
        </p:txBody>
      </p:sp>
      <p:sp>
        <p:nvSpPr>
          <p:cNvPr id="6" name="Text 4"/>
          <p:cNvSpPr/>
          <p:nvPr/>
        </p:nvSpPr>
        <p:spPr>
          <a:xfrm>
            <a:off x="572872" y="2697480"/>
            <a:ext cx="1901952" cy="777240"/>
          </a:xfrm>
          <a:prstGeom prst="rect">
            <a:avLst/>
          </a:prstGeom>
          <a:noFill/>
          <a:ln/>
        </p:spPr>
        <p:txBody>
          <a:bodyPr wrap="square"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12 Monthly Files</a:t>
            </a:r>
            <a:endParaRPr lang="en-US" sz="1500" dirty="0"/>
          </a:p>
        </p:txBody>
      </p:sp>
      <p:sp>
        <p:nvSpPr>
          <p:cNvPr id="7" name="Shape 5"/>
          <p:cNvSpPr/>
          <p:nvPr/>
        </p:nvSpPr>
        <p:spPr>
          <a:xfrm>
            <a:off x="2767432" y="1463040"/>
            <a:ext cx="2084832" cy="2103120"/>
          </a:xfrm>
          <a:prstGeom prst="roundRect">
            <a:avLst>
              <a:gd name="adj" fmla="val 4386"/>
            </a:avLst>
          </a:prstGeom>
          <a:solidFill>
            <a:srgbClr val="1F4E79"/>
          </a:solidFill>
          <a:ln/>
          <a:effectLst>
            <a:outerShdw blurRad="63500" dist="25400" dir="5400000" algn="bl" rotWithShape="0">
              <a:srgbClr val="444444">
                <a:alpha val="25000"/>
              </a:srgbClr>
            </a:outerShdw>
          </a:effectLst>
        </p:spPr>
      </p:sp>
      <p:sp>
        <p:nvSpPr>
          <p:cNvPr id="8" name="Text 6"/>
          <p:cNvSpPr/>
          <p:nvPr/>
        </p:nvSpPr>
        <p:spPr>
          <a:xfrm>
            <a:off x="2767432" y="1645920"/>
            <a:ext cx="2084832"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2858872" y="2331720"/>
            <a:ext cx="1901952" cy="365760"/>
          </a:xfrm>
          <a:prstGeom prst="rect">
            <a:avLst/>
          </a:prstGeom>
          <a:noFill/>
          <a:ln/>
        </p:spPr>
        <p:txBody>
          <a:bodyPr wrap="square" rtlCol="0" anchor="ctr"/>
          <a:lstStyle/>
          <a:p>
            <a:pPr marL="0" indent="0" algn="ctr">
              <a:buNone/>
            </a:pPr>
            <a:r>
              <a:rPr lang="en-US" sz="1300" dirty="0">
                <a:solidFill>
                  <a:srgbClr val="BFD3E8"/>
                </a:solidFill>
                <a:latin typeface="Calibri" pitchFamily="34" charset="0"/>
                <a:ea typeface="Calibri" pitchFamily="34" charset="-122"/>
                <a:cs typeface="Calibri" pitchFamily="34" charset="-120"/>
              </a:rPr>
              <a:t>Total Rides</a:t>
            </a:r>
            <a:endParaRPr lang="en-US" sz="1300" dirty="0"/>
          </a:p>
        </p:txBody>
      </p:sp>
      <p:sp>
        <p:nvSpPr>
          <p:cNvPr id="10" name="Text 8"/>
          <p:cNvSpPr/>
          <p:nvPr/>
        </p:nvSpPr>
        <p:spPr>
          <a:xfrm>
            <a:off x="2858872" y="2697480"/>
            <a:ext cx="1901952" cy="777240"/>
          </a:xfrm>
          <a:prstGeom prst="rect">
            <a:avLst/>
          </a:prstGeom>
          <a:noFill/>
          <a:ln/>
        </p:spPr>
        <p:txBody>
          <a:bodyPr wrap="square"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5,714,805</a:t>
            </a:r>
            <a:endParaRPr lang="en-US" sz="1500" dirty="0"/>
          </a:p>
        </p:txBody>
      </p:sp>
      <p:sp>
        <p:nvSpPr>
          <p:cNvPr id="11" name="Shape 9"/>
          <p:cNvSpPr/>
          <p:nvPr/>
        </p:nvSpPr>
        <p:spPr>
          <a:xfrm>
            <a:off x="5053432" y="1463040"/>
            <a:ext cx="2084832" cy="2103120"/>
          </a:xfrm>
          <a:prstGeom prst="roundRect">
            <a:avLst>
              <a:gd name="adj" fmla="val 4386"/>
            </a:avLst>
          </a:prstGeom>
          <a:solidFill>
            <a:srgbClr val="1F4E79"/>
          </a:solidFill>
          <a:ln/>
          <a:effectLst>
            <a:outerShdw blurRad="63500" dist="25400" dir="5400000" algn="bl" rotWithShape="0">
              <a:srgbClr val="444444">
                <a:alpha val="25000"/>
              </a:srgbClr>
            </a:outerShdw>
          </a:effectLst>
        </p:spPr>
      </p:sp>
      <p:sp>
        <p:nvSpPr>
          <p:cNvPr id="12" name="Text 10"/>
          <p:cNvSpPr/>
          <p:nvPr/>
        </p:nvSpPr>
        <p:spPr>
          <a:xfrm>
            <a:off x="5053432" y="1645920"/>
            <a:ext cx="2084832"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5144872" y="2331720"/>
            <a:ext cx="1901952" cy="365760"/>
          </a:xfrm>
          <a:prstGeom prst="rect">
            <a:avLst/>
          </a:prstGeom>
          <a:noFill/>
          <a:ln/>
        </p:spPr>
        <p:txBody>
          <a:bodyPr wrap="square" rtlCol="0" anchor="ctr"/>
          <a:lstStyle/>
          <a:p>
            <a:pPr marL="0" indent="0" algn="ctr">
              <a:buNone/>
            </a:pPr>
            <a:r>
              <a:rPr lang="en-US" sz="1300" dirty="0">
                <a:solidFill>
                  <a:srgbClr val="BFD3E8"/>
                </a:solidFill>
                <a:latin typeface="Calibri" pitchFamily="34" charset="0"/>
                <a:ea typeface="Calibri" pitchFamily="34" charset="-122"/>
                <a:cs typeface="Calibri" pitchFamily="34" charset="-120"/>
              </a:rPr>
              <a:t>Cleaning</a:t>
            </a:r>
            <a:endParaRPr lang="en-US" sz="1300" dirty="0"/>
          </a:p>
        </p:txBody>
      </p:sp>
      <p:sp>
        <p:nvSpPr>
          <p:cNvPr id="14" name="Text 12"/>
          <p:cNvSpPr/>
          <p:nvPr/>
        </p:nvSpPr>
        <p:spPr>
          <a:xfrm>
            <a:off x="5144872" y="2697480"/>
            <a:ext cx="1901952" cy="777240"/>
          </a:xfrm>
          <a:prstGeom prst="rect">
            <a:avLst/>
          </a:prstGeom>
          <a:noFill/>
          <a:ln/>
        </p:spPr>
        <p:txBody>
          <a:bodyPr wrap="square"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Excel + SQL</a:t>
            </a:r>
            <a:endParaRPr lang="en-US" sz="1500" dirty="0"/>
          </a:p>
        </p:txBody>
      </p:sp>
      <p:sp>
        <p:nvSpPr>
          <p:cNvPr id="15" name="Shape 13"/>
          <p:cNvSpPr/>
          <p:nvPr/>
        </p:nvSpPr>
        <p:spPr>
          <a:xfrm>
            <a:off x="7339432" y="1463040"/>
            <a:ext cx="2084832" cy="2103120"/>
          </a:xfrm>
          <a:prstGeom prst="roundRect">
            <a:avLst>
              <a:gd name="adj" fmla="val 4386"/>
            </a:avLst>
          </a:prstGeom>
          <a:solidFill>
            <a:srgbClr val="1F4E79"/>
          </a:solidFill>
          <a:ln/>
          <a:effectLst>
            <a:outerShdw blurRad="63500" dist="25400" dir="5400000" algn="bl" rotWithShape="0">
              <a:srgbClr val="444444">
                <a:alpha val="25000"/>
              </a:srgbClr>
            </a:outerShdw>
          </a:effectLst>
        </p:spPr>
      </p:sp>
      <p:sp>
        <p:nvSpPr>
          <p:cNvPr id="16" name="Text 14"/>
          <p:cNvSpPr/>
          <p:nvPr/>
        </p:nvSpPr>
        <p:spPr>
          <a:xfrm>
            <a:off x="7339432" y="1645920"/>
            <a:ext cx="2084832"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7430872" y="2331720"/>
            <a:ext cx="1901952" cy="365760"/>
          </a:xfrm>
          <a:prstGeom prst="rect">
            <a:avLst/>
          </a:prstGeom>
          <a:noFill/>
          <a:ln/>
        </p:spPr>
        <p:txBody>
          <a:bodyPr wrap="square" rtlCol="0" anchor="ctr"/>
          <a:lstStyle/>
          <a:p>
            <a:pPr marL="0" indent="0" algn="ctr">
              <a:buNone/>
            </a:pPr>
            <a:r>
              <a:rPr lang="en-US" sz="1300" dirty="0">
                <a:solidFill>
                  <a:srgbClr val="BFD3E8"/>
                </a:solidFill>
                <a:latin typeface="Calibri" pitchFamily="34" charset="0"/>
                <a:ea typeface="Calibri" pitchFamily="34" charset="-122"/>
                <a:cs typeface="Calibri" pitchFamily="34" charset="-120"/>
              </a:rPr>
              <a:t>Visualization</a:t>
            </a:r>
            <a:endParaRPr lang="en-US" sz="1300" dirty="0"/>
          </a:p>
        </p:txBody>
      </p:sp>
      <p:sp>
        <p:nvSpPr>
          <p:cNvPr id="18" name="Text 16"/>
          <p:cNvSpPr/>
          <p:nvPr/>
        </p:nvSpPr>
        <p:spPr>
          <a:xfrm>
            <a:off x="7430872" y="2697480"/>
            <a:ext cx="1901952" cy="777240"/>
          </a:xfrm>
          <a:prstGeom prst="rect">
            <a:avLst/>
          </a:prstGeom>
          <a:noFill/>
          <a:ln/>
        </p:spPr>
        <p:txBody>
          <a:bodyPr wrap="square"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Tableau</a:t>
            </a:r>
            <a:endParaRPr lang="en-US" sz="1500" dirty="0"/>
          </a:p>
        </p:txBody>
      </p:sp>
      <p:sp>
        <p:nvSpPr>
          <p:cNvPr id="19" name="Shape 17"/>
          <p:cNvSpPr/>
          <p:nvPr/>
        </p:nvSpPr>
        <p:spPr>
          <a:xfrm>
            <a:off x="9625432" y="1463040"/>
            <a:ext cx="2084832" cy="2103120"/>
          </a:xfrm>
          <a:prstGeom prst="roundRect">
            <a:avLst>
              <a:gd name="adj" fmla="val 4386"/>
            </a:avLst>
          </a:prstGeom>
          <a:solidFill>
            <a:srgbClr val="1F4E79"/>
          </a:solidFill>
          <a:ln/>
          <a:effectLst>
            <a:outerShdw blurRad="63500" dist="25400" dir="5400000" algn="bl" rotWithShape="0">
              <a:srgbClr val="444444">
                <a:alpha val="25000"/>
              </a:srgbClr>
            </a:outerShdw>
          </a:effectLst>
        </p:spPr>
      </p:sp>
      <p:sp>
        <p:nvSpPr>
          <p:cNvPr id="20" name="Text 18"/>
          <p:cNvSpPr/>
          <p:nvPr/>
        </p:nvSpPr>
        <p:spPr>
          <a:xfrm>
            <a:off x="9625432" y="1645920"/>
            <a:ext cx="2084832"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9716872" y="2331720"/>
            <a:ext cx="1901952" cy="365760"/>
          </a:xfrm>
          <a:prstGeom prst="rect">
            <a:avLst/>
          </a:prstGeom>
          <a:noFill/>
          <a:ln/>
        </p:spPr>
        <p:txBody>
          <a:bodyPr wrap="square" rtlCol="0" anchor="ctr"/>
          <a:lstStyle/>
          <a:p>
            <a:pPr marL="0" indent="0" algn="ctr">
              <a:buNone/>
            </a:pPr>
            <a:r>
              <a:rPr lang="en-US" sz="1300" dirty="0">
                <a:solidFill>
                  <a:srgbClr val="BFD3E8"/>
                </a:solidFill>
                <a:latin typeface="Calibri" pitchFamily="34" charset="0"/>
                <a:ea typeface="Calibri" pitchFamily="34" charset="-122"/>
                <a:cs typeface="Calibri" pitchFamily="34" charset="-120"/>
              </a:rPr>
              <a:t>Period</a:t>
            </a:r>
            <a:endParaRPr lang="en-US" sz="1300" dirty="0"/>
          </a:p>
        </p:txBody>
      </p:sp>
      <p:sp>
        <p:nvSpPr>
          <p:cNvPr id="22" name="Text 20"/>
          <p:cNvSpPr/>
          <p:nvPr/>
        </p:nvSpPr>
        <p:spPr>
          <a:xfrm>
            <a:off x="9716872" y="2697480"/>
            <a:ext cx="1901952" cy="777240"/>
          </a:xfrm>
          <a:prstGeom prst="rect">
            <a:avLst/>
          </a:prstGeom>
          <a:noFill/>
          <a:ln/>
        </p:spPr>
        <p:txBody>
          <a:bodyPr wrap="square"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January–December 2023</a:t>
            </a:r>
            <a:endParaRPr lang="en-US" sz="1500" dirty="0"/>
          </a:p>
        </p:txBody>
      </p:sp>
      <p:sp>
        <p:nvSpPr>
          <p:cNvPr id="23" name="Shape 21"/>
          <p:cNvSpPr/>
          <p:nvPr/>
        </p:nvSpPr>
        <p:spPr>
          <a:xfrm>
            <a:off x="548640" y="3977640"/>
            <a:ext cx="11094415" cy="1234440"/>
          </a:xfrm>
          <a:prstGeom prst="roundRect">
            <a:avLst>
              <a:gd name="adj" fmla="val 5926"/>
            </a:avLst>
          </a:prstGeom>
          <a:solidFill>
            <a:srgbClr val="FDEEE0"/>
          </a:solidFill>
          <a:ln/>
        </p:spPr>
      </p:sp>
      <p:sp>
        <p:nvSpPr>
          <p:cNvPr id="24" name="Text 22"/>
          <p:cNvSpPr/>
          <p:nvPr/>
        </p:nvSpPr>
        <p:spPr>
          <a:xfrm>
            <a:off x="914400" y="3977640"/>
            <a:ext cx="10362895" cy="1234440"/>
          </a:xfrm>
          <a:prstGeom prst="rect">
            <a:avLst/>
          </a:prstGeom>
          <a:noFill/>
          <a:ln/>
        </p:spPr>
        <p:txBody>
          <a:bodyPr wrap="square" rtlCol="0" anchor="ctr"/>
          <a:lstStyle/>
          <a:p>
            <a:pPr marL="0" indent="0" algn="ctr">
              <a:buNone/>
            </a:pPr>
            <a:r>
              <a:rPr lang="en-US" sz="1700" i="1" dirty="0">
                <a:solidFill>
                  <a:srgbClr val="44546A"/>
                </a:solidFill>
                <a:latin typeface="Calibri" pitchFamily="34" charset="0"/>
                <a:ea typeface="Calibri" pitchFamily="34" charset="-122"/>
                <a:cs typeface="Calibri" pitchFamily="34" charset="-120"/>
              </a:rPr>
              <a:t>The dataset contains one year of Cyclistic bike trips. Data was cleaned, validated, analyzed using SQL, and visualized in Tableau.</a:t>
            </a:r>
            <a:endParaRPr lang="en-US" sz="1700" dirty="0"/>
          </a:p>
        </p:txBody>
      </p:sp>
      <p:sp>
        <p:nvSpPr>
          <p:cNvPr id="25" name="Text 23"/>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Overall Rider Behavior</a:t>
            </a:r>
            <a:endParaRPr lang="en-US" sz="3000" dirty="0"/>
          </a:p>
        </p:txBody>
      </p:sp>
      <p:pic>
        <p:nvPicPr>
          <p:cNvPr id="3" name="Image 0" descr="Screenshot_2026-07-29_171214.png"/>
          <p:cNvPicPr>
            <a:picLocks noChangeAspect="1"/>
          </p:cNvPicPr>
          <p:nvPr/>
        </p:nvPicPr>
        <p:blipFill>
          <a:blip r:embed="rId3"/>
          <a:stretch>
            <a:fillRect/>
          </a:stretch>
        </p:blipFill>
        <p:spPr>
          <a:xfrm>
            <a:off x="457200" y="1143000"/>
            <a:ext cx="7223760" cy="3063240"/>
          </a:xfrm>
          <a:prstGeom prst="rect">
            <a:avLst/>
          </a:prstGeom>
        </p:spPr>
      </p:pic>
      <p:sp>
        <p:nvSpPr>
          <p:cNvPr id="4" name="Shape 1"/>
          <p:cNvSpPr/>
          <p:nvPr/>
        </p:nvSpPr>
        <p:spPr>
          <a:xfrm>
            <a:off x="457200" y="1143000"/>
            <a:ext cx="7223760" cy="3063240"/>
          </a:xfrm>
          <a:prstGeom prst="rect">
            <a:avLst/>
          </a:prstGeom>
          <a:ln w="12700">
            <a:solidFill>
              <a:srgbClr val="D9D9D9"/>
            </a:solidFill>
            <a:prstDash val="solid"/>
          </a:ln>
        </p:spPr>
      </p:sp>
      <p:sp>
        <p:nvSpPr>
          <p:cNvPr id="5" name="Text 2"/>
          <p:cNvSpPr/>
          <p:nvPr/>
        </p:nvSpPr>
        <p:spPr>
          <a:xfrm>
            <a:off x="457200" y="4315968"/>
            <a:ext cx="7223760" cy="320040"/>
          </a:xfrm>
          <a:prstGeom prst="rect">
            <a:avLst/>
          </a:prstGeom>
          <a:noFill/>
          <a:ln/>
        </p:spPr>
        <p:txBody>
          <a:bodyPr wrap="square" rtlCol="0" anchor="ctr"/>
          <a:lstStyle/>
          <a:p>
            <a:pPr marL="0" indent="0" algn="ctr">
              <a:buNone/>
            </a:pPr>
            <a:r>
              <a:rPr lang="en-US" sz="1050" i="1" dirty="0">
                <a:solidFill>
                  <a:srgbClr val="9AA7B8"/>
                </a:solidFill>
                <a:latin typeface="Calibri" pitchFamily="34" charset="0"/>
                <a:ea typeface="Calibri" pitchFamily="34" charset="-122"/>
                <a:cs typeface="Calibri" pitchFamily="34" charset="-120"/>
              </a:rPr>
              <a:t>Slide 5 — Rider Behavior Dashboard</a:t>
            </a:r>
            <a:endParaRPr lang="en-US" sz="1050" dirty="0"/>
          </a:p>
        </p:txBody>
      </p:sp>
      <p:sp>
        <p:nvSpPr>
          <p:cNvPr id="6" name="Text 3"/>
          <p:cNvSpPr/>
          <p:nvPr/>
        </p:nvSpPr>
        <p:spPr>
          <a:xfrm>
            <a:off x="7955280" y="1188720"/>
            <a:ext cx="3749040" cy="457200"/>
          </a:xfrm>
          <a:prstGeom prst="rect">
            <a:avLst/>
          </a:prstGeom>
          <a:noFill/>
          <a:ln/>
        </p:spPr>
        <p:txBody>
          <a:bodyPr wrap="square"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Key Observations</a:t>
            </a:r>
            <a:endParaRPr lang="en-US" sz="2000" dirty="0"/>
          </a:p>
        </p:txBody>
      </p:sp>
      <p:sp>
        <p:nvSpPr>
          <p:cNvPr id="7" name="Shape 4"/>
          <p:cNvSpPr/>
          <p:nvPr/>
        </p:nvSpPr>
        <p:spPr>
          <a:xfrm>
            <a:off x="7955280" y="1828800"/>
            <a:ext cx="3749040" cy="822960"/>
          </a:xfrm>
          <a:prstGeom prst="roundRect">
            <a:avLst>
              <a:gd name="adj" fmla="val 8889"/>
            </a:avLst>
          </a:prstGeom>
          <a:solidFill>
            <a:srgbClr val="EAF1F8"/>
          </a:solidFill>
          <a:ln/>
        </p:spPr>
      </p:sp>
      <p:sp>
        <p:nvSpPr>
          <p:cNvPr id="8" name="Text 5"/>
          <p:cNvSpPr/>
          <p:nvPr/>
        </p:nvSpPr>
        <p:spPr>
          <a:xfrm>
            <a:off x="8138160" y="1828800"/>
            <a:ext cx="3383280" cy="82296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Members completed significantly more rides.</a:t>
            </a:r>
            <a:endParaRPr lang="en-US" sz="1300" dirty="0"/>
          </a:p>
        </p:txBody>
      </p:sp>
      <p:sp>
        <p:nvSpPr>
          <p:cNvPr id="9" name="Shape 6"/>
          <p:cNvSpPr/>
          <p:nvPr/>
        </p:nvSpPr>
        <p:spPr>
          <a:xfrm>
            <a:off x="7955280" y="2788920"/>
            <a:ext cx="3749040" cy="822960"/>
          </a:xfrm>
          <a:prstGeom prst="roundRect">
            <a:avLst>
              <a:gd name="adj" fmla="val 8889"/>
            </a:avLst>
          </a:prstGeom>
          <a:solidFill>
            <a:srgbClr val="FDEEE0"/>
          </a:solidFill>
          <a:ln/>
        </p:spPr>
      </p:sp>
      <p:sp>
        <p:nvSpPr>
          <p:cNvPr id="10" name="Text 7"/>
          <p:cNvSpPr/>
          <p:nvPr/>
        </p:nvSpPr>
        <p:spPr>
          <a:xfrm>
            <a:off x="8138160" y="2788920"/>
            <a:ext cx="3383280" cy="82296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Casual riders spent more time per ride.</a:t>
            </a:r>
            <a:endParaRPr lang="en-US" sz="1300" dirty="0"/>
          </a:p>
        </p:txBody>
      </p:sp>
      <p:sp>
        <p:nvSpPr>
          <p:cNvPr id="11" name="Shape 8"/>
          <p:cNvSpPr/>
          <p:nvPr/>
        </p:nvSpPr>
        <p:spPr>
          <a:xfrm>
            <a:off x="7955280" y="3749040"/>
            <a:ext cx="3749040" cy="822960"/>
          </a:xfrm>
          <a:prstGeom prst="roundRect">
            <a:avLst>
              <a:gd name="adj" fmla="val 8889"/>
            </a:avLst>
          </a:prstGeom>
          <a:solidFill>
            <a:srgbClr val="EAF1F8"/>
          </a:solidFill>
          <a:ln/>
        </p:spPr>
      </p:sp>
      <p:sp>
        <p:nvSpPr>
          <p:cNvPr id="12" name="Text 9"/>
          <p:cNvSpPr/>
          <p:nvPr/>
        </p:nvSpPr>
        <p:spPr>
          <a:xfrm>
            <a:off x="8138160" y="3749040"/>
            <a:ext cx="3383280" cy="82296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Ride activity increased during summer.</a:t>
            </a:r>
            <a:endParaRPr lang="en-US" sz="1300" dirty="0"/>
          </a:p>
        </p:txBody>
      </p:sp>
      <p:sp>
        <p:nvSpPr>
          <p:cNvPr id="13" name="Shape 10"/>
          <p:cNvSpPr/>
          <p:nvPr/>
        </p:nvSpPr>
        <p:spPr>
          <a:xfrm>
            <a:off x="7955280" y="4709160"/>
            <a:ext cx="3749040" cy="822960"/>
          </a:xfrm>
          <a:prstGeom prst="roundRect">
            <a:avLst>
              <a:gd name="adj" fmla="val 8889"/>
            </a:avLst>
          </a:prstGeom>
          <a:solidFill>
            <a:srgbClr val="FDEEE0"/>
          </a:solidFill>
          <a:ln/>
        </p:spPr>
      </p:sp>
      <p:sp>
        <p:nvSpPr>
          <p:cNvPr id="14" name="Text 11"/>
          <p:cNvSpPr/>
          <p:nvPr/>
        </p:nvSpPr>
        <p:spPr>
          <a:xfrm>
            <a:off x="8138160" y="4709160"/>
            <a:ext cx="3383280" cy="82296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Ride demand declined during winter.</a:t>
            </a:r>
            <a:endParaRPr lang="en-US" sz="1300" dirty="0"/>
          </a:p>
        </p:txBody>
      </p:sp>
      <p:sp>
        <p:nvSpPr>
          <p:cNvPr id="15" name="Text 12"/>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Detailed Rider Analysis</a:t>
            </a:r>
            <a:endParaRPr lang="en-US" sz="3000" dirty="0"/>
          </a:p>
        </p:txBody>
      </p:sp>
      <p:pic>
        <p:nvPicPr>
          <p:cNvPr id="3" name="Image 0" descr="Screenshot_2026-07-29_171233.png"/>
          <p:cNvPicPr>
            <a:picLocks noChangeAspect="1"/>
          </p:cNvPicPr>
          <p:nvPr/>
        </p:nvPicPr>
        <p:blipFill>
          <a:blip r:embed="rId3"/>
          <a:stretch>
            <a:fillRect/>
          </a:stretch>
        </p:blipFill>
        <p:spPr>
          <a:xfrm>
            <a:off x="457200" y="1143000"/>
            <a:ext cx="7223760" cy="3703320"/>
          </a:xfrm>
          <a:prstGeom prst="rect">
            <a:avLst/>
          </a:prstGeom>
        </p:spPr>
      </p:pic>
      <p:sp>
        <p:nvSpPr>
          <p:cNvPr id="4" name="Shape 1"/>
          <p:cNvSpPr/>
          <p:nvPr/>
        </p:nvSpPr>
        <p:spPr>
          <a:xfrm>
            <a:off x="457200" y="1143000"/>
            <a:ext cx="7223760" cy="3703320"/>
          </a:xfrm>
          <a:prstGeom prst="rect">
            <a:avLst/>
          </a:prstGeom>
          <a:ln w="12700">
            <a:solidFill>
              <a:srgbClr val="D9D9D9"/>
            </a:solidFill>
            <a:prstDash val="solid"/>
          </a:ln>
        </p:spPr>
      </p:sp>
      <p:sp>
        <p:nvSpPr>
          <p:cNvPr id="5" name="Text 2"/>
          <p:cNvSpPr/>
          <p:nvPr/>
        </p:nvSpPr>
        <p:spPr>
          <a:xfrm>
            <a:off x="7955280" y="1188720"/>
            <a:ext cx="3749040" cy="457200"/>
          </a:xfrm>
          <a:prstGeom prst="rect">
            <a:avLst/>
          </a:prstGeom>
          <a:noFill/>
          <a:ln/>
        </p:spPr>
        <p:txBody>
          <a:bodyPr wrap="square"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Insights</a:t>
            </a:r>
            <a:endParaRPr lang="en-US" sz="2000" dirty="0"/>
          </a:p>
        </p:txBody>
      </p:sp>
      <p:sp>
        <p:nvSpPr>
          <p:cNvPr id="6" name="Text 3"/>
          <p:cNvSpPr/>
          <p:nvPr/>
        </p:nvSpPr>
        <p:spPr>
          <a:xfrm>
            <a:off x="7955280" y="1828800"/>
            <a:ext cx="3749040" cy="4114800"/>
          </a:xfrm>
          <a:prstGeom prst="rect">
            <a:avLst/>
          </a:prstGeom>
          <a:noFill/>
          <a:ln/>
        </p:spPr>
        <p:txBody>
          <a:bodyPr wrap="square" rtlCol="0" anchor="t"/>
          <a:lstStyle/>
          <a:p>
            <a:pPr marL="342900" indent="-342900">
              <a:spcAft>
                <a:spcPts val="1600"/>
              </a:spcAft>
              <a:buSzPct val="100000"/>
              <a:buChar char="●"/>
            </a:pPr>
            <a:r>
              <a:rPr lang="en-US" sz="1400" dirty="0">
                <a:solidFill>
                  <a:srgbClr val="44546A"/>
                </a:solidFill>
                <a:latin typeface="Calibri" pitchFamily="34" charset="0"/>
                <a:ea typeface="Calibri" pitchFamily="34" charset="-122"/>
                <a:cs typeface="Calibri" pitchFamily="34" charset="-120"/>
              </a:rPr>
              <a:t>Members ride mostly on weekdays.</a:t>
            </a:r>
            <a:endParaRPr lang="en-US" sz="1400" dirty="0"/>
          </a:p>
          <a:p>
            <a:pPr marL="342900" indent="-342900">
              <a:spcAft>
                <a:spcPts val="1600"/>
              </a:spcAft>
              <a:buSzPct val="100000"/>
              <a:buChar char="●"/>
            </a:pPr>
            <a:r>
              <a:rPr lang="en-US" sz="1400" dirty="0">
                <a:solidFill>
                  <a:srgbClr val="44546A"/>
                </a:solidFill>
                <a:latin typeface="Calibri" pitchFamily="34" charset="0"/>
                <a:ea typeface="Calibri" pitchFamily="34" charset="-122"/>
                <a:cs typeface="Calibri" pitchFamily="34" charset="-120"/>
              </a:rPr>
              <a:t>Casual riders ride more on weekends.</a:t>
            </a:r>
            <a:endParaRPr lang="en-US" sz="1400" dirty="0"/>
          </a:p>
          <a:p>
            <a:pPr marL="342900" indent="-342900">
              <a:spcAft>
                <a:spcPts val="1600"/>
              </a:spcAft>
              <a:buSzPct val="100000"/>
              <a:buChar char="●"/>
            </a:pPr>
            <a:r>
              <a:rPr lang="en-US" sz="1400" dirty="0">
                <a:solidFill>
                  <a:srgbClr val="44546A"/>
                </a:solidFill>
                <a:latin typeface="Calibri" pitchFamily="34" charset="0"/>
                <a:ea typeface="Calibri" pitchFamily="34" charset="-122"/>
                <a:cs typeface="Calibri" pitchFamily="34" charset="-120"/>
              </a:rPr>
              <a:t>Evening hours show the highest ride activity.</a:t>
            </a:r>
            <a:endParaRPr lang="en-US" sz="1400" dirty="0"/>
          </a:p>
          <a:p>
            <a:pPr marL="342900" indent="-342900">
              <a:spcAft>
                <a:spcPts val="1600"/>
              </a:spcAft>
              <a:buSzPct val="100000"/>
              <a:buChar char="●"/>
            </a:pPr>
            <a:r>
              <a:rPr lang="en-US" sz="1400" dirty="0">
                <a:solidFill>
                  <a:srgbClr val="44546A"/>
                </a:solidFill>
                <a:latin typeface="Calibri" pitchFamily="34" charset="0"/>
                <a:ea typeface="Calibri" pitchFamily="34" charset="-122"/>
                <a:cs typeface="Calibri" pitchFamily="34" charset="-120"/>
              </a:rPr>
              <a:t>Electric bikes are the most popular bike type.</a:t>
            </a:r>
            <a:endParaRPr lang="en-US" sz="1400" dirty="0"/>
          </a:p>
          <a:p>
            <a:pPr marL="342900" indent="-342900">
              <a:spcAft>
                <a:spcPts val="1600"/>
              </a:spcAft>
              <a:buSzPct val="100000"/>
              <a:buChar char="●"/>
            </a:pPr>
            <a:r>
              <a:rPr lang="en-US" sz="1400" dirty="0">
                <a:solidFill>
                  <a:srgbClr val="44546A"/>
                </a:solidFill>
                <a:latin typeface="Calibri" pitchFamily="34" charset="0"/>
                <a:ea typeface="Calibri" pitchFamily="34" charset="-122"/>
                <a:cs typeface="Calibri" pitchFamily="34" charset="-120"/>
              </a:rPr>
              <a:t>Casual riders have longer average ride durations.</a:t>
            </a:r>
            <a:endParaRPr lang="en-US" sz="1400" dirty="0"/>
          </a:p>
        </p:txBody>
      </p:sp>
      <p:sp>
        <p:nvSpPr>
          <p:cNvPr id="7" name="Text 4"/>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Station Analysis</a:t>
            </a:r>
            <a:endParaRPr lang="en-US" sz="3000" dirty="0"/>
          </a:p>
        </p:txBody>
      </p:sp>
      <p:pic>
        <p:nvPicPr>
          <p:cNvPr id="3" name="Image 0" descr="Screenshot_2026-07-29_171053.png"/>
          <p:cNvPicPr>
            <a:picLocks noChangeAspect="1"/>
          </p:cNvPicPr>
          <p:nvPr/>
        </p:nvPicPr>
        <p:blipFill>
          <a:blip r:embed="rId3"/>
          <a:stretch>
            <a:fillRect/>
          </a:stretch>
        </p:blipFill>
        <p:spPr>
          <a:xfrm>
            <a:off x="457200" y="1143000"/>
            <a:ext cx="6949440" cy="4846320"/>
          </a:xfrm>
          <a:prstGeom prst="rect">
            <a:avLst/>
          </a:prstGeom>
        </p:spPr>
      </p:pic>
      <p:sp>
        <p:nvSpPr>
          <p:cNvPr id="4" name="Shape 1"/>
          <p:cNvSpPr/>
          <p:nvPr/>
        </p:nvSpPr>
        <p:spPr>
          <a:xfrm>
            <a:off x="457200" y="1143000"/>
            <a:ext cx="6949440" cy="4846320"/>
          </a:xfrm>
          <a:prstGeom prst="rect">
            <a:avLst/>
          </a:prstGeom>
          <a:ln w="12700">
            <a:solidFill>
              <a:srgbClr val="D9D9D9"/>
            </a:solidFill>
            <a:prstDash val="solid"/>
          </a:ln>
        </p:spPr>
      </p:sp>
      <p:sp>
        <p:nvSpPr>
          <p:cNvPr id="5" name="Text 2"/>
          <p:cNvSpPr/>
          <p:nvPr/>
        </p:nvSpPr>
        <p:spPr>
          <a:xfrm>
            <a:off x="7772400" y="1188720"/>
            <a:ext cx="3931920" cy="457200"/>
          </a:xfrm>
          <a:prstGeom prst="rect">
            <a:avLst/>
          </a:prstGeom>
          <a:noFill/>
          <a:ln/>
        </p:spPr>
        <p:txBody>
          <a:bodyPr wrap="square"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Insights</a:t>
            </a:r>
            <a:endParaRPr lang="en-US" sz="2000" dirty="0"/>
          </a:p>
        </p:txBody>
      </p:sp>
      <p:sp>
        <p:nvSpPr>
          <p:cNvPr id="6" name="Shape 3"/>
          <p:cNvSpPr/>
          <p:nvPr/>
        </p:nvSpPr>
        <p:spPr>
          <a:xfrm>
            <a:off x="7772400" y="1874520"/>
            <a:ext cx="3931920" cy="960120"/>
          </a:xfrm>
          <a:prstGeom prst="roundRect">
            <a:avLst>
              <a:gd name="adj" fmla="val 7619"/>
            </a:avLst>
          </a:prstGeom>
          <a:solidFill>
            <a:srgbClr val="EAF1F8"/>
          </a:solidFill>
          <a:ln/>
        </p:spPr>
      </p:sp>
      <p:sp>
        <p:nvSpPr>
          <p:cNvPr id="7" name="Text 4"/>
          <p:cNvSpPr/>
          <p:nvPr/>
        </p:nvSpPr>
        <p:spPr>
          <a:xfrm>
            <a:off x="7955280" y="1874520"/>
            <a:ext cx="3566160" cy="96012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Casual riders mostly start and end rides near tourist attractions.</a:t>
            </a:r>
            <a:endParaRPr lang="en-US" sz="1300" dirty="0"/>
          </a:p>
        </p:txBody>
      </p:sp>
      <p:sp>
        <p:nvSpPr>
          <p:cNvPr id="8" name="Shape 5"/>
          <p:cNvSpPr/>
          <p:nvPr/>
        </p:nvSpPr>
        <p:spPr>
          <a:xfrm>
            <a:off x="7772400" y="2971800"/>
            <a:ext cx="3931920" cy="960120"/>
          </a:xfrm>
          <a:prstGeom prst="roundRect">
            <a:avLst>
              <a:gd name="adj" fmla="val 7619"/>
            </a:avLst>
          </a:prstGeom>
          <a:solidFill>
            <a:srgbClr val="FDEEE0"/>
          </a:solidFill>
          <a:ln/>
        </p:spPr>
      </p:sp>
      <p:sp>
        <p:nvSpPr>
          <p:cNvPr id="9" name="Text 6"/>
          <p:cNvSpPr/>
          <p:nvPr/>
        </p:nvSpPr>
        <p:spPr>
          <a:xfrm>
            <a:off x="7955280" y="2971800"/>
            <a:ext cx="3566160" cy="96012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Members frequently use business district stations.</a:t>
            </a:r>
            <a:endParaRPr lang="en-US" sz="1300" dirty="0"/>
          </a:p>
        </p:txBody>
      </p:sp>
      <p:sp>
        <p:nvSpPr>
          <p:cNvPr id="10" name="Shape 7"/>
          <p:cNvSpPr/>
          <p:nvPr/>
        </p:nvSpPr>
        <p:spPr>
          <a:xfrm>
            <a:off x="7772400" y="4069080"/>
            <a:ext cx="3931920" cy="960120"/>
          </a:xfrm>
          <a:prstGeom prst="roundRect">
            <a:avLst>
              <a:gd name="adj" fmla="val 7619"/>
            </a:avLst>
          </a:prstGeom>
          <a:solidFill>
            <a:srgbClr val="EAF1F8"/>
          </a:solidFill>
          <a:ln/>
        </p:spPr>
      </p:sp>
      <p:sp>
        <p:nvSpPr>
          <p:cNvPr id="11" name="Text 8"/>
          <p:cNvSpPr/>
          <p:nvPr/>
        </p:nvSpPr>
        <p:spPr>
          <a:xfrm>
            <a:off x="7955280" y="4069080"/>
            <a:ext cx="3566160" cy="96012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Members have consistent commuting stations.</a:t>
            </a:r>
            <a:endParaRPr lang="en-US" sz="1300" dirty="0"/>
          </a:p>
        </p:txBody>
      </p:sp>
      <p:sp>
        <p:nvSpPr>
          <p:cNvPr id="12" name="Shape 9"/>
          <p:cNvSpPr/>
          <p:nvPr/>
        </p:nvSpPr>
        <p:spPr>
          <a:xfrm>
            <a:off x="7772400" y="5166360"/>
            <a:ext cx="3931920" cy="960120"/>
          </a:xfrm>
          <a:prstGeom prst="roundRect">
            <a:avLst>
              <a:gd name="adj" fmla="val 7619"/>
            </a:avLst>
          </a:prstGeom>
          <a:solidFill>
            <a:srgbClr val="FDEEE0"/>
          </a:solidFill>
          <a:ln/>
        </p:spPr>
      </p:sp>
      <p:sp>
        <p:nvSpPr>
          <p:cNvPr id="13" name="Text 10"/>
          <p:cNvSpPr/>
          <p:nvPr/>
        </p:nvSpPr>
        <p:spPr>
          <a:xfrm>
            <a:off x="7955280" y="5166360"/>
            <a:ext cx="3566160" cy="960120"/>
          </a:xfrm>
          <a:prstGeom prst="rect">
            <a:avLst/>
          </a:prstGeom>
          <a:noFill/>
          <a:ln/>
        </p:spPr>
        <p:txBody>
          <a:bodyPr wrap="square" rtlCol="0" anchor="ctr"/>
          <a:lstStyle/>
          <a:p>
            <a:pPr marL="0" indent="0" algn="l">
              <a:buNone/>
            </a:pPr>
            <a:r>
              <a:rPr lang="en-US" sz="1300" dirty="0">
                <a:solidFill>
                  <a:srgbClr val="44546A"/>
                </a:solidFill>
                <a:latin typeface="Calibri" pitchFamily="34" charset="0"/>
                <a:ea typeface="Calibri" pitchFamily="34" charset="-122"/>
                <a:cs typeface="Calibri" pitchFamily="34" charset="-120"/>
              </a:rPr>
              <a:t>Casual riders travel between recreational locations.</a:t>
            </a:r>
            <a:endParaRPr lang="en-US" sz="1300" dirty="0"/>
          </a:p>
        </p:txBody>
      </p:sp>
      <p:sp>
        <p:nvSpPr>
          <p:cNvPr id="14" name="Text 11"/>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Key Findings</a:t>
            </a:r>
            <a:endParaRPr lang="en-US" sz="3000" dirty="0"/>
          </a:p>
        </p:txBody>
      </p:sp>
      <p:sp>
        <p:nvSpPr>
          <p:cNvPr id="3" name="Shape 1"/>
          <p:cNvSpPr/>
          <p:nvPr/>
        </p:nvSpPr>
        <p:spPr>
          <a:xfrm>
            <a:off x="472288" y="1645920"/>
            <a:ext cx="2606040" cy="2377440"/>
          </a:xfrm>
          <a:prstGeom prst="roundRect">
            <a:avLst>
              <a:gd name="adj" fmla="val 4615"/>
            </a:avLst>
          </a:prstGeom>
          <a:solidFill>
            <a:srgbClr val="1F4E79"/>
          </a:solidFill>
          <a:ln/>
          <a:effectLst>
            <a:outerShdw blurRad="63500" dist="25400" dir="5400000" algn="bl" rotWithShape="0">
              <a:srgbClr val="444444">
                <a:alpha val="25000"/>
              </a:srgbClr>
            </a:outerShdw>
          </a:effectLst>
        </p:spPr>
      </p:sp>
      <p:sp>
        <p:nvSpPr>
          <p:cNvPr id="4" name="Text 2"/>
          <p:cNvSpPr/>
          <p:nvPr/>
        </p:nvSpPr>
        <p:spPr>
          <a:xfrm>
            <a:off x="563728" y="2240280"/>
            <a:ext cx="24231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3.66 Million</a:t>
            </a:r>
            <a:endParaRPr lang="en-US" sz="2400" dirty="0"/>
          </a:p>
        </p:txBody>
      </p:sp>
      <p:sp>
        <p:nvSpPr>
          <p:cNvPr id="5" name="Text 3"/>
          <p:cNvSpPr/>
          <p:nvPr/>
        </p:nvSpPr>
        <p:spPr>
          <a:xfrm>
            <a:off x="609448" y="3154680"/>
            <a:ext cx="2331720" cy="640080"/>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Member Rides</a:t>
            </a:r>
            <a:endParaRPr lang="en-US" sz="1400" dirty="0"/>
          </a:p>
        </p:txBody>
      </p:sp>
      <p:sp>
        <p:nvSpPr>
          <p:cNvPr id="6" name="Shape 4"/>
          <p:cNvSpPr/>
          <p:nvPr/>
        </p:nvSpPr>
        <p:spPr>
          <a:xfrm>
            <a:off x="3352648" y="1645920"/>
            <a:ext cx="2606040" cy="2377440"/>
          </a:xfrm>
          <a:prstGeom prst="roundRect">
            <a:avLst>
              <a:gd name="adj" fmla="val 4615"/>
            </a:avLst>
          </a:prstGeom>
          <a:solidFill>
            <a:srgbClr val="F28E2B"/>
          </a:solidFill>
          <a:ln/>
          <a:effectLst>
            <a:outerShdw blurRad="63500" dist="25400" dir="5400000" algn="bl" rotWithShape="0">
              <a:srgbClr val="444444">
                <a:alpha val="25000"/>
              </a:srgbClr>
            </a:outerShdw>
          </a:effectLst>
        </p:spPr>
      </p:sp>
      <p:sp>
        <p:nvSpPr>
          <p:cNvPr id="7" name="Text 5"/>
          <p:cNvSpPr/>
          <p:nvPr/>
        </p:nvSpPr>
        <p:spPr>
          <a:xfrm>
            <a:off x="3444088" y="2240280"/>
            <a:ext cx="24231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2.05 Million</a:t>
            </a:r>
            <a:endParaRPr lang="en-US" sz="2400" dirty="0"/>
          </a:p>
        </p:txBody>
      </p:sp>
      <p:sp>
        <p:nvSpPr>
          <p:cNvPr id="8" name="Text 6"/>
          <p:cNvSpPr/>
          <p:nvPr/>
        </p:nvSpPr>
        <p:spPr>
          <a:xfrm>
            <a:off x="3489808" y="3154680"/>
            <a:ext cx="2331720" cy="640080"/>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Casual Rides</a:t>
            </a:r>
            <a:endParaRPr lang="en-US" sz="1400" dirty="0"/>
          </a:p>
        </p:txBody>
      </p:sp>
      <p:sp>
        <p:nvSpPr>
          <p:cNvPr id="9" name="Shape 7"/>
          <p:cNvSpPr/>
          <p:nvPr/>
        </p:nvSpPr>
        <p:spPr>
          <a:xfrm>
            <a:off x="6233008" y="1645920"/>
            <a:ext cx="2606040" cy="2377440"/>
          </a:xfrm>
          <a:prstGeom prst="roundRect">
            <a:avLst>
              <a:gd name="adj" fmla="val 4615"/>
            </a:avLst>
          </a:prstGeom>
          <a:solidFill>
            <a:srgbClr val="1F4E79"/>
          </a:solidFill>
          <a:ln/>
          <a:effectLst>
            <a:outerShdw blurRad="63500" dist="25400" dir="5400000" algn="bl" rotWithShape="0">
              <a:srgbClr val="444444">
                <a:alpha val="25000"/>
              </a:srgbClr>
            </a:outerShdw>
          </a:effectLst>
        </p:spPr>
      </p:sp>
      <p:sp>
        <p:nvSpPr>
          <p:cNvPr id="10" name="Text 8"/>
          <p:cNvSpPr/>
          <p:nvPr/>
        </p:nvSpPr>
        <p:spPr>
          <a:xfrm>
            <a:off x="6324448" y="2240280"/>
            <a:ext cx="24231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12.07 Minutes</a:t>
            </a:r>
            <a:endParaRPr lang="en-US" sz="2400" dirty="0"/>
          </a:p>
        </p:txBody>
      </p:sp>
      <p:sp>
        <p:nvSpPr>
          <p:cNvPr id="11" name="Text 9"/>
          <p:cNvSpPr/>
          <p:nvPr/>
        </p:nvSpPr>
        <p:spPr>
          <a:xfrm>
            <a:off x="6370168" y="3154680"/>
            <a:ext cx="2331720" cy="640080"/>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Member Average Ride</a:t>
            </a:r>
            <a:endParaRPr lang="en-US" sz="1400" dirty="0"/>
          </a:p>
        </p:txBody>
      </p:sp>
      <p:sp>
        <p:nvSpPr>
          <p:cNvPr id="12" name="Shape 10"/>
          <p:cNvSpPr/>
          <p:nvPr/>
        </p:nvSpPr>
        <p:spPr>
          <a:xfrm>
            <a:off x="9113368" y="1645920"/>
            <a:ext cx="2606040" cy="2377440"/>
          </a:xfrm>
          <a:prstGeom prst="roundRect">
            <a:avLst>
              <a:gd name="adj" fmla="val 4615"/>
            </a:avLst>
          </a:prstGeom>
          <a:solidFill>
            <a:srgbClr val="F28E2B"/>
          </a:solidFill>
          <a:ln/>
          <a:effectLst>
            <a:outerShdw blurRad="63500" dist="25400" dir="5400000" algn="bl" rotWithShape="0">
              <a:srgbClr val="444444">
                <a:alpha val="25000"/>
              </a:srgbClr>
            </a:outerShdw>
          </a:effectLst>
        </p:spPr>
      </p:sp>
      <p:sp>
        <p:nvSpPr>
          <p:cNvPr id="13" name="Text 11"/>
          <p:cNvSpPr/>
          <p:nvPr/>
        </p:nvSpPr>
        <p:spPr>
          <a:xfrm>
            <a:off x="9204808" y="2240280"/>
            <a:ext cx="24231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20.70 Minutes</a:t>
            </a:r>
            <a:endParaRPr lang="en-US" sz="2400" dirty="0"/>
          </a:p>
        </p:txBody>
      </p:sp>
      <p:sp>
        <p:nvSpPr>
          <p:cNvPr id="14" name="Text 12"/>
          <p:cNvSpPr/>
          <p:nvPr/>
        </p:nvSpPr>
        <p:spPr>
          <a:xfrm>
            <a:off x="9250528" y="3154680"/>
            <a:ext cx="2331720" cy="640080"/>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Casual Average Ride</a:t>
            </a:r>
            <a:endParaRPr lang="en-US" sz="1400" dirty="0"/>
          </a:p>
        </p:txBody>
      </p:sp>
      <p:sp>
        <p:nvSpPr>
          <p:cNvPr id="15" name="Text 13"/>
          <p:cNvSpPr/>
          <p:nvPr/>
        </p:nvSpPr>
        <p:spPr>
          <a:xfrm>
            <a:off x="548640" y="4434840"/>
            <a:ext cx="11094415" cy="640080"/>
          </a:xfrm>
          <a:prstGeom prst="rect">
            <a:avLst/>
          </a:prstGeom>
          <a:noFill/>
          <a:ln/>
        </p:spPr>
        <p:txBody>
          <a:bodyPr wrap="square" rtlCol="0" anchor="ctr"/>
          <a:lstStyle/>
          <a:p>
            <a:pPr marL="0" indent="0" algn="ctr">
              <a:buNone/>
            </a:pPr>
            <a:r>
              <a:rPr lang="en-US" sz="1800" i="1" dirty="0">
                <a:solidFill>
                  <a:srgbClr val="44546A"/>
                </a:solidFill>
                <a:latin typeface="Calibri" pitchFamily="34" charset="0"/>
                <a:ea typeface="Calibri" pitchFamily="34" charset="-122"/>
                <a:cs typeface="Calibri" pitchFamily="34" charset="-120"/>
              </a:rPr>
              <a:t>Members ride more frequently while casual riders take longer trips.</a:t>
            </a:r>
            <a:endParaRPr lang="en-US" sz="1800" dirty="0"/>
          </a:p>
        </p:txBody>
      </p:sp>
      <p:sp>
        <p:nvSpPr>
          <p:cNvPr id="16" name="Text 14"/>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lgn="l">
              <a:buNone/>
            </a:pPr>
            <a:r>
              <a:rPr lang="en-US" sz="3000" b="1" dirty="0">
                <a:solidFill>
                  <a:srgbClr val="1F4E79"/>
                </a:solidFill>
                <a:latin typeface="Calibri" pitchFamily="34" charset="0"/>
                <a:ea typeface="Calibri" pitchFamily="34" charset="-122"/>
                <a:cs typeface="Calibri" pitchFamily="34" charset="-120"/>
              </a:rPr>
              <a:t>Recommendations</a:t>
            </a:r>
            <a:endParaRPr lang="en-US" sz="3000" dirty="0"/>
          </a:p>
        </p:txBody>
      </p:sp>
      <p:sp>
        <p:nvSpPr>
          <p:cNvPr id="3" name="Shape 1"/>
          <p:cNvSpPr/>
          <p:nvPr/>
        </p:nvSpPr>
        <p:spPr>
          <a:xfrm>
            <a:off x="426568" y="1371600"/>
            <a:ext cx="3566160" cy="1965960"/>
          </a:xfrm>
          <a:prstGeom prst="roundRect">
            <a:avLst>
              <a:gd name="adj" fmla="val 4651"/>
            </a:avLst>
          </a:prstGeom>
          <a:solidFill>
            <a:srgbClr val="EAF1F8"/>
          </a:solidFill>
          <a:ln/>
        </p:spPr>
      </p:sp>
      <p:sp>
        <p:nvSpPr>
          <p:cNvPr id="4" name="Text 2"/>
          <p:cNvSpPr/>
          <p:nvPr/>
        </p:nvSpPr>
        <p:spPr>
          <a:xfrm>
            <a:off x="609448" y="1554480"/>
            <a:ext cx="822960" cy="82296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5" name="Text 3"/>
          <p:cNvSpPr/>
          <p:nvPr/>
        </p:nvSpPr>
        <p:spPr>
          <a:xfrm>
            <a:off x="1478128" y="1554480"/>
            <a:ext cx="2331720" cy="685800"/>
          </a:xfrm>
          <a:prstGeom prst="rect">
            <a:avLst/>
          </a:prstGeom>
          <a:noFill/>
          <a:ln/>
        </p:spPr>
        <p:txBody>
          <a:bodyPr wrap="square" rtlCol="0" anchor="t"/>
          <a:lstStyle/>
          <a:p>
            <a:pPr marL="0" indent="0">
              <a:buNone/>
            </a:pPr>
            <a:r>
              <a:rPr lang="en-US" sz="1450" b="1" dirty="0">
                <a:solidFill>
                  <a:srgbClr val="1F4E79"/>
                </a:solidFill>
                <a:latin typeface="Calibri" pitchFamily="34" charset="0"/>
                <a:ea typeface="Calibri" pitchFamily="34" charset="-122"/>
                <a:cs typeface="Calibri" pitchFamily="34" charset="-120"/>
              </a:rPr>
              <a:t>Convert Frequent Casual Riders</a:t>
            </a:r>
            <a:endParaRPr lang="en-US" sz="1450" dirty="0"/>
          </a:p>
        </p:txBody>
      </p:sp>
      <p:sp>
        <p:nvSpPr>
          <p:cNvPr id="6" name="Text 4"/>
          <p:cNvSpPr/>
          <p:nvPr/>
        </p:nvSpPr>
        <p:spPr>
          <a:xfrm>
            <a:off x="655168" y="2331720"/>
            <a:ext cx="3108960" cy="868680"/>
          </a:xfrm>
          <a:prstGeom prst="rect">
            <a:avLst/>
          </a:prstGeom>
          <a:noFill/>
          <a:ln/>
        </p:spPr>
        <p:txBody>
          <a:bodyPr wrap="square" rtlCol="0" anchor="t"/>
          <a:lstStyle/>
          <a:p>
            <a:pPr marL="0" indent="0">
              <a:buNone/>
            </a:pPr>
            <a:r>
              <a:rPr lang="en-US" sz="1250" dirty="0">
                <a:solidFill>
                  <a:srgbClr val="44546A"/>
                </a:solidFill>
                <a:latin typeface="Calibri" pitchFamily="34" charset="0"/>
                <a:ea typeface="Calibri" pitchFamily="34" charset="-122"/>
                <a:cs typeface="Calibri" pitchFamily="34" charset="-120"/>
              </a:rPr>
              <a:t>Offer personalized membership discounts.</a:t>
            </a:r>
            <a:endParaRPr lang="en-US" sz="1250" dirty="0"/>
          </a:p>
        </p:txBody>
      </p:sp>
      <p:sp>
        <p:nvSpPr>
          <p:cNvPr id="7" name="Shape 5"/>
          <p:cNvSpPr/>
          <p:nvPr/>
        </p:nvSpPr>
        <p:spPr>
          <a:xfrm>
            <a:off x="4312768" y="1371600"/>
            <a:ext cx="3566160" cy="1965960"/>
          </a:xfrm>
          <a:prstGeom prst="roundRect">
            <a:avLst>
              <a:gd name="adj" fmla="val 4651"/>
            </a:avLst>
          </a:prstGeom>
          <a:solidFill>
            <a:srgbClr val="EAF1F8"/>
          </a:solidFill>
          <a:ln/>
        </p:spPr>
      </p:sp>
      <p:sp>
        <p:nvSpPr>
          <p:cNvPr id="8" name="Text 6"/>
          <p:cNvSpPr/>
          <p:nvPr/>
        </p:nvSpPr>
        <p:spPr>
          <a:xfrm>
            <a:off x="4495648" y="1554480"/>
            <a:ext cx="822960" cy="82296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9" name="Text 7"/>
          <p:cNvSpPr/>
          <p:nvPr/>
        </p:nvSpPr>
        <p:spPr>
          <a:xfrm>
            <a:off x="5364328" y="1554480"/>
            <a:ext cx="2331720" cy="685800"/>
          </a:xfrm>
          <a:prstGeom prst="rect">
            <a:avLst/>
          </a:prstGeom>
          <a:noFill/>
          <a:ln/>
        </p:spPr>
        <p:txBody>
          <a:bodyPr wrap="square" rtlCol="0" anchor="t"/>
          <a:lstStyle/>
          <a:p>
            <a:pPr marL="0" indent="0">
              <a:buNone/>
            </a:pPr>
            <a:r>
              <a:rPr lang="en-US" sz="1450" b="1" dirty="0">
                <a:solidFill>
                  <a:srgbClr val="1F4E79"/>
                </a:solidFill>
                <a:latin typeface="Calibri" pitchFamily="34" charset="0"/>
                <a:ea typeface="Calibri" pitchFamily="34" charset="-122"/>
                <a:cs typeface="Calibri" pitchFamily="34" charset="-120"/>
              </a:rPr>
              <a:t>Summer Campaigns</a:t>
            </a:r>
            <a:endParaRPr lang="en-US" sz="1450" dirty="0"/>
          </a:p>
        </p:txBody>
      </p:sp>
      <p:sp>
        <p:nvSpPr>
          <p:cNvPr id="10" name="Text 8"/>
          <p:cNvSpPr/>
          <p:nvPr/>
        </p:nvSpPr>
        <p:spPr>
          <a:xfrm>
            <a:off x="4541368" y="2331720"/>
            <a:ext cx="3108960" cy="868680"/>
          </a:xfrm>
          <a:prstGeom prst="rect">
            <a:avLst/>
          </a:prstGeom>
          <a:noFill/>
          <a:ln/>
        </p:spPr>
        <p:txBody>
          <a:bodyPr wrap="square" rtlCol="0" anchor="t"/>
          <a:lstStyle/>
          <a:p>
            <a:pPr marL="0" indent="0">
              <a:buNone/>
            </a:pPr>
            <a:r>
              <a:rPr lang="en-US" sz="1250" dirty="0">
                <a:solidFill>
                  <a:srgbClr val="44546A"/>
                </a:solidFill>
                <a:latin typeface="Calibri" pitchFamily="34" charset="0"/>
                <a:ea typeface="Calibri" pitchFamily="34" charset="-122"/>
                <a:cs typeface="Calibri" pitchFamily="34" charset="-120"/>
              </a:rPr>
              <a:t>Launch seasonal membership promotions.</a:t>
            </a:r>
            <a:endParaRPr lang="en-US" sz="1250" dirty="0"/>
          </a:p>
        </p:txBody>
      </p:sp>
      <p:sp>
        <p:nvSpPr>
          <p:cNvPr id="11" name="Shape 9"/>
          <p:cNvSpPr/>
          <p:nvPr/>
        </p:nvSpPr>
        <p:spPr>
          <a:xfrm>
            <a:off x="8198968" y="1371600"/>
            <a:ext cx="3566160" cy="1965960"/>
          </a:xfrm>
          <a:prstGeom prst="roundRect">
            <a:avLst>
              <a:gd name="adj" fmla="val 4651"/>
            </a:avLst>
          </a:prstGeom>
          <a:solidFill>
            <a:srgbClr val="EAF1F8"/>
          </a:solidFill>
          <a:ln/>
        </p:spPr>
      </p:sp>
      <p:sp>
        <p:nvSpPr>
          <p:cNvPr id="12" name="Text 10"/>
          <p:cNvSpPr/>
          <p:nvPr/>
        </p:nvSpPr>
        <p:spPr>
          <a:xfrm>
            <a:off x="8381848" y="1554480"/>
            <a:ext cx="822960" cy="82296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3" name="Text 11"/>
          <p:cNvSpPr/>
          <p:nvPr/>
        </p:nvSpPr>
        <p:spPr>
          <a:xfrm>
            <a:off x="9250528" y="1554480"/>
            <a:ext cx="2331720" cy="685800"/>
          </a:xfrm>
          <a:prstGeom prst="rect">
            <a:avLst/>
          </a:prstGeom>
          <a:noFill/>
          <a:ln/>
        </p:spPr>
        <p:txBody>
          <a:bodyPr wrap="square" rtlCol="0" anchor="t"/>
          <a:lstStyle/>
          <a:p>
            <a:pPr marL="0" indent="0">
              <a:buNone/>
            </a:pPr>
            <a:r>
              <a:rPr lang="en-US" sz="1450" b="1" dirty="0">
                <a:solidFill>
                  <a:srgbClr val="1F4E79"/>
                </a:solidFill>
                <a:latin typeface="Calibri" pitchFamily="34" charset="0"/>
                <a:ea typeface="Calibri" pitchFamily="34" charset="-122"/>
                <a:cs typeface="Calibri" pitchFamily="34" charset="-120"/>
              </a:rPr>
              <a:t>Tourist Stations</a:t>
            </a:r>
            <a:endParaRPr lang="en-US" sz="1450" dirty="0"/>
          </a:p>
        </p:txBody>
      </p:sp>
      <p:sp>
        <p:nvSpPr>
          <p:cNvPr id="14" name="Text 12"/>
          <p:cNvSpPr/>
          <p:nvPr/>
        </p:nvSpPr>
        <p:spPr>
          <a:xfrm>
            <a:off x="8427568" y="2331720"/>
            <a:ext cx="3108960" cy="868680"/>
          </a:xfrm>
          <a:prstGeom prst="rect">
            <a:avLst/>
          </a:prstGeom>
          <a:noFill/>
          <a:ln/>
        </p:spPr>
        <p:txBody>
          <a:bodyPr wrap="square" rtlCol="0" anchor="t"/>
          <a:lstStyle/>
          <a:p>
            <a:pPr marL="0" indent="0">
              <a:buNone/>
            </a:pPr>
            <a:r>
              <a:rPr lang="en-US" sz="1250" dirty="0">
                <a:solidFill>
                  <a:srgbClr val="44546A"/>
                </a:solidFill>
                <a:latin typeface="Calibri" pitchFamily="34" charset="0"/>
                <a:ea typeface="Calibri" pitchFamily="34" charset="-122"/>
                <a:cs typeface="Calibri" pitchFamily="34" charset="-120"/>
              </a:rPr>
              <a:t>Promote memberships near popular attractions.</a:t>
            </a:r>
            <a:endParaRPr lang="en-US" sz="1250" dirty="0"/>
          </a:p>
        </p:txBody>
      </p:sp>
      <p:sp>
        <p:nvSpPr>
          <p:cNvPr id="15" name="Shape 13"/>
          <p:cNvSpPr/>
          <p:nvPr/>
        </p:nvSpPr>
        <p:spPr>
          <a:xfrm>
            <a:off x="426568" y="3657600"/>
            <a:ext cx="3566160" cy="1965960"/>
          </a:xfrm>
          <a:prstGeom prst="roundRect">
            <a:avLst>
              <a:gd name="adj" fmla="val 4651"/>
            </a:avLst>
          </a:prstGeom>
          <a:solidFill>
            <a:srgbClr val="FDEEE0"/>
          </a:solidFill>
          <a:ln/>
        </p:spPr>
      </p:sp>
      <p:sp>
        <p:nvSpPr>
          <p:cNvPr id="16" name="Text 14"/>
          <p:cNvSpPr/>
          <p:nvPr/>
        </p:nvSpPr>
        <p:spPr>
          <a:xfrm>
            <a:off x="609448" y="3840480"/>
            <a:ext cx="822960" cy="82296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7" name="Text 15"/>
          <p:cNvSpPr/>
          <p:nvPr/>
        </p:nvSpPr>
        <p:spPr>
          <a:xfrm>
            <a:off x="1478128" y="3840480"/>
            <a:ext cx="2331720" cy="685800"/>
          </a:xfrm>
          <a:prstGeom prst="rect">
            <a:avLst/>
          </a:prstGeom>
          <a:noFill/>
          <a:ln/>
        </p:spPr>
        <p:txBody>
          <a:bodyPr wrap="square" rtlCol="0" anchor="t"/>
          <a:lstStyle/>
          <a:p>
            <a:pPr marL="0" indent="0">
              <a:buNone/>
            </a:pPr>
            <a:r>
              <a:rPr lang="en-US" sz="1450" b="1" dirty="0">
                <a:solidFill>
                  <a:srgbClr val="1F4E79"/>
                </a:solidFill>
                <a:latin typeface="Calibri" pitchFamily="34" charset="0"/>
                <a:ea typeface="Calibri" pitchFamily="34" charset="-122"/>
                <a:cs typeface="Calibri" pitchFamily="34" charset="-120"/>
              </a:rPr>
              <a:t>Electric Bikes</a:t>
            </a:r>
            <a:endParaRPr lang="en-US" sz="1450" dirty="0"/>
          </a:p>
        </p:txBody>
      </p:sp>
      <p:sp>
        <p:nvSpPr>
          <p:cNvPr id="18" name="Text 16"/>
          <p:cNvSpPr/>
          <p:nvPr/>
        </p:nvSpPr>
        <p:spPr>
          <a:xfrm>
            <a:off x="655168" y="4617720"/>
            <a:ext cx="3108960" cy="868680"/>
          </a:xfrm>
          <a:prstGeom prst="rect">
            <a:avLst/>
          </a:prstGeom>
          <a:noFill/>
          <a:ln/>
        </p:spPr>
        <p:txBody>
          <a:bodyPr wrap="square" rtlCol="0" anchor="t"/>
          <a:lstStyle/>
          <a:p>
            <a:pPr marL="0" indent="0">
              <a:buNone/>
            </a:pPr>
            <a:r>
              <a:rPr lang="en-US" sz="1250" dirty="0">
                <a:solidFill>
                  <a:srgbClr val="44546A"/>
                </a:solidFill>
                <a:latin typeface="Calibri" pitchFamily="34" charset="0"/>
                <a:ea typeface="Calibri" pitchFamily="34" charset="-122"/>
                <a:cs typeface="Calibri" pitchFamily="34" charset="-120"/>
              </a:rPr>
              <a:t>Encourage electric bike memberships.</a:t>
            </a:r>
            <a:endParaRPr lang="en-US" sz="1250" dirty="0"/>
          </a:p>
        </p:txBody>
      </p:sp>
      <p:sp>
        <p:nvSpPr>
          <p:cNvPr id="19" name="Shape 17"/>
          <p:cNvSpPr/>
          <p:nvPr/>
        </p:nvSpPr>
        <p:spPr>
          <a:xfrm>
            <a:off x="4312768" y="3657600"/>
            <a:ext cx="3566160" cy="1965960"/>
          </a:xfrm>
          <a:prstGeom prst="roundRect">
            <a:avLst>
              <a:gd name="adj" fmla="val 4651"/>
            </a:avLst>
          </a:prstGeom>
          <a:solidFill>
            <a:srgbClr val="FDEEE0"/>
          </a:solidFill>
          <a:ln/>
        </p:spPr>
      </p:sp>
      <p:sp>
        <p:nvSpPr>
          <p:cNvPr id="20" name="Text 18"/>
          <p:cNvSpPr/>
          <p:nvPr/>
        </p:nvSpPr>
        <p:spPr>
          <a:xfrm>
            <a:off x="4495648" y="3840480"/>
            <a:ext cx="822960" cy="82296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5364328" y="3840480"/>
            <a:ext cx="2331720" cy="685800"/>
          </a:xfrm>
          <a:prstGeom prst="rect">
            <a:avLst/>
          </a:prstGeom>
          <a:noFill/>
          <a:ln/>
        </p:spPr>
        <p:txBody>
          <a:bodyPr wrap="square" rtlCol="0" anchor="t"/>
          <a:lstStyle/>
          <a:p>
            <a:pPr marL="0" indent="0">
              <a:buNone/>
            </a:pPr>
            <a:r>
              <a:rPr lang="en-US" sz="1450" b="1" dirty="0">
                <a:solidFill>
                  <a:srgbClr val="1F4E79"/>
                </a:solidFill>
                <a:latin typeface="Calibri" pitchFamily="34" charset="0"/>
                <a:ea typeface="Calibri" pitchFamily="34" charset="-122"/>
                <a:cs typeface="Calibri" pitchFamily="34" charset="-120"/>
              </a:rPr>
              <a:t>Digital Marketing</a:t>
            </a:r>
            <a:endParaRPr lang="en-US" sz="1450" dirty="0"/>
          </a:p>
        </p:txBody>
      </p:sp>
      <p:sp>
        <p:nvSpPr>
          <p:cNvPr id="22" name="Text 20"/>
          <p:cNvSpPr/>
          <p:nvPr/>
        </p:nvSpPr>
        <p:spPr>
          <a:xfrm>
            <a:off x="4541368" y="4617720"/>
            <a:ext cx="3108960" cy="868680"/>
          </a:xfrm>
          <a:prstGeom prst="rect">
            <a:avLst/>
          </a:prstGeom>
          <a:noFill/>
          <a:ln/>
        </p:spPr>
        <p:txBody>
          <a:bodyPr wrap="square" rtlCol="0" anchor="t"/>
          <a:lstStyle/>
          <a:p>
            <a:pPr marL="0" indent="0">
              <a:buNone/>
            </a:pPr>
            <a:r>
              <a:rPr lang="en-US" sz="1250" dirty="0">
                <a:solidFill>
                  <a:srgbClr val="44546A"/>
                </a:solidFill>
                <a:latin typeface="Calibri" pitchFamily="34" charset="0"/>
                <a:ea typeface="Calibri" pitchFamily="34" charset="-122"/>
                <a:cs typeface="Calibri" pitchFamily="34" charset="-120"/>
              </a:rPr>
              <a:t>Target casual riders using online campaigns.</a:t>
            </a:r>
            <a:endParaRPr lang="en-US" sz="1250" dirty="0"/>
          </a:p>
        </p:txBody>
      </p:sp>
      <p:sp>
        <p:nvSpPr>
          <p:cNvPr id="23" name="Text 21"/>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822960"/>
            <a:ext cx="11094415" cy="914400"/>
          </a:xfrm>
          <a:prstGeom prst="rect">
            <a:avLst/>
          </a:prstGeom>
          <a:noFill/>
          <a:ln/>
        </p:spPr>
        <p:txBody>
          <a:bodyPr wrap="square" rtlCol="0" anchor="ctr"/>
          <a:lstStyle/>
          <a:p>
            <a:pPr marL="0" indent="0" algn="ctr">
              <a:buNone/>
            </a:pPr>
            <a:r>
              <a:rPr lang="en-US" sz="3600" b="1" dirty="0">
                <a:solidFill>
                  <a:srgbClr val="1F4E79"/>
                </a:solidFill>
                <a:latin typeface="Calibri" pitchFamily="34" charset="0"/>
                <a:ea typeface="Calibri" pitchFamily="34" charset="-122"/>
                <a:cs typeface="Calibri" pitchFamily="34" charset="-120"/>
              </a:rPr>
              <a:t>Conclusion</a:t>
            </a:r>
            <a:endParaRPr lang="en-US" sz="3600" dirty="0"/>
          </a:p>
        </p:txBody>
      </p:sp>
      <p:sp>
        <p:nvSpPr>
          <p:cNvPr id="3" name="Shape 1"/>
          <p:cNvSpPr/>
          <p:nvPr/>
        </p:nvSpPr>
        <p:spPr>
          <a:xfrm>
            <a:off x="1280160" y="2103120"/>
            <a:ext cx="9631375" cy="2926080"/>
          </a:xfrm>
          <a:prstGeom prst="roundRect">
            <a:avLst>
              <a:gd name="adj" fmla="val 3125"/>
            </a:avLst>
          </a:prstGeom>
          <a:solidFill>
            <a:srgbClr val="EAF1F8"/>
          </a:solidFill>
          <a:ln/>
        </p:spPr>
      </p:sp>
      <p:sp>
        <p:nvSpPr>
          <p:cNvPr id="4" name="Text 2"/>
          <p:cNvSpPr/>
          <p:nvPr/>
        </p:nvSpPr>
        <p:spPr>
          <a:xfrm>
            <a:off x="1737360" y="2103120"/>
            <a:ext cx="8716975" cy="2926080"/>
          </a:xfrm>
          <a:prstGeom prst="rect">
            <a:avLst/>
          </a:prstGeom>
          <a:noFill/>
          <a:ln/>
        </p:spPr>
        <p:txBody>
          <a:bodyPr wrap="square" rtlCol="0" anchor="ctr"/>
          <a:lstStyle/>
          <a:p>
            <a:pPr marL="0" indent="0" algn="ctr">
              <a:lnSpc>
                <a:spcPct val="130000"/>
              </a:lnSpc>
              <a:buNone/>
            </a:pPr>
            <a:r>
              <a:rPr lang="en-US" sz="1900" dirty="0">
                <a:solidFill>
                  <a:srgbClr val="44546A"/>
                </a:solidFill>
                <a:latin typeface="Calibri" pitchFamily="34" charset="0"/>
                <a:ea typeface="Calibri" pitchFamily="34" charset="-122"/>
                <a:cs typeface="Calibri" pitchFamily="34" charset="-120"/>
              </a:rPr>
              <a:t>This analysis shows clear behavioral differences between annual members and casual riders. Members mainly use bikes for commuting, while casual riders use them for longer recreational trips. These insights can help Cyclistic design targeted marketing campaigns to convert casual riders into annual members.</a:t>
            </a:r>
            <a:endParaRPr lang="en-US" sz="1900" dirty="0"/>
          </a:p>
        </p:txBody>
      </p:sp>
      <p:sp>
        <p:nvSpPr>
          <p:cNvPr id="5" name="Text 3"/>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731520"/>
          </a:xfrm>
          <a:prstGeom prst="rect">
            <a:avLst/>
          </a:prstGeom>
          <a:noFill/>
          <a:ln/>
        </p:spPr>
        <p:txBody>
          <a:bodyPr wrap="square" lIns="0" tIns="0" rIns="0" bIns="0"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Interactive Dashboard</a:t>
            </a:r>
            <a:endParaRPr lang="en-US" sz="3000" dirty="0"/>
          </a:p>
        </p:txBody>
      </p:sp>
      <p:sp>
        <p:nvSpPr>
          <p:cNvPr id="3" name="Text 1"/>
          <p:cNvSpPr/>
          <p:nvPr/>
        </p:nvSpPr>
        <p:spPr>
          <a:xfrm>
            <a:off x="5410048" y="1371600"/>
            <a:ext cx="1371600" cy="1371600"/>
          </a:xfrm>
          <a:prstGeom prst="rect">
            <a:avLst/>
          </a:prstGeom>
          <a:noFill/>
          <a:ln/>
        </p:spPr>
        <p:txBody>
          <a:bodyPr wrap="square" rtlCol="0" anchor="ctr"/>
          <a:lstStyle/>
          <a:p>
            <a:pPr marL="0" indent="0" algn="ctr">
              <a:buNone/>
            </a:pPr>
            <a:r>
              <a:rPr lang="en-US" sz="6000" dirty="0">
                <a:solidFill>
                  <a:srgbClr val="000000"/>
                </a:solidFill>
              </a:rPr>
              <a:t>📊</a:t>
            </a:r>
            <a:endParaRPr lang="en-US" sz="6000" dirty="0"/>
          </a:p>
        </p:txBody>
      </p:sp>
      <p:sp>
        <p:nvSpPr>
          <p:cNvPr id="4" name="Text 2"/>
          <p:cNvSpPr/>
          <p:nvPr/>
        </p:nvSpPr>
        <p:spPr>
          <a:xfrm>
            <a:off x="1371600" y="2834640"/>
            <a:ext cx="9448495" cy="548640"/>
          </a:xfrm>
          <a:prstGeom prst="rect">
            <a:avLst/>
          </a:prstGeom>
          <a:noFill/>
          <a:ln/>
        </p:spPr>
        <p:txBody>
          <a:bodyPr wrap="square" rtlCol="0" anchor="ctr"/>
          <a:lstStyle/>
          <a:p>
            <a:pPr marL="0" indent="0" algn="ctr">
              <a:buNone/>
            </a:pPr>
            <a:r>
              <a:rPr lang="en-US" sz="1800" dirty="0">
                <a:solidFill>
                  <a:srgbClr val="44546A"/>
                </a:solidFill>
                <a:latin typeface="Calibri" pitchFamily="34" charset="0"/>
                <a:ea typeface="Calibri" pitchFamily="34" charset="-122"/>
                <a:cs typeface="Calibri" pitchFamily="34" charset="-120"/>
              </a:rPr>
              <a:t>The complete interactive dashboard is available on Tableau Public.</a:t>
            </a:r>
            <a:endParaRPr lang="en-US" sz="1800" dirty="0"/>
          </a:p>
        </p:txBody>
      </p:sp>
      <p:sp>
        <p:nvSpPr>
          <p:cNvPr id="5" name="Shape 3"/>
          <p:cNvSpPr/>
          <p:nvPr/>
        </p:nvSpPr>
        <p:spPr>
          <a:xfrm>
            <a:off x="3353105" y="3566160"/>
            <a:ext cx="5486400" cy="594360"/>
          </a:xfrm>
          <a:prstGeom prst="roundRect">
            <a:avLst>
              <a:gd name="adj" fmla="val 12308"/>
            </a:avLst>
          </a:prstGeom>
          <a:solidFill>
            <a:srgbClr val="F28E2B"/>
          </a:solidFill>
          <a:ln/>
        </p:spPr>
      </p:sp>
      <p:sp>
        <p:nvSpPr>
          <p:cNvPr id="6" name="Text 4">
            <a:hlinkClick r:id="rId3"/>
          </p:cNvPr>
          <p:cNvSpPr/>
          <p:nvPr/>
        </p:nvSpPr>
        <p:spPr>
          <a:xfrm>
            <a:off x="3353105" y="3566160"/>
            <a:ext cx="5486400" cy="594360"/>
          </a:xfrm>
          <a:prstGeom prst="rect">
            <a:avLst/>
          </a:prstGeom>
          <a:noFill/>
          <a:ln/>
        </p:spPr>
        <p:txBody>
          <a:bodyPr wrap="square" rtlCol="0" anchor="ctr"/>
          <a:lstStyle/>
          <a:p>
            <a:pPr marL="0" indent="0" algn="ctr">
              <a:buNone/>
            </a:pPr>
            <a:r>
              <a:rPr lang="en-US" sz="1600" b="1" u="sng" dirty="0">
                <a:solidFill>
                  <a:srgbClr val="FFFF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View the Dashboard on Tableau Public</a:t>
            </a:r>
            <a:endParaRPr lang="en-US" sz="1600" dirty="0"/>
          </a:p>
        </p:txBody>
      </p:sp>
      <p:sp>
        <p:nvSpPr>
          <p:cNvPr id="7" name="Text 5">
            <a:hlinkClick r:id="rId3"/>
          </p:cNvPr>
          <p:cNvSpPr/>
          <p:nvPr/>
        </p:nvSpPr>
        <p:spPr>
          <a:xfrm>
            <a:off x="914399" y="4297680"/>
            <a:ext cx="10362895" cy="731520"/>
          </a:xfrm>
          <a:prstGeom prst="rect">
            <a:avLst/>
          </a:prstGeom>
          <a:noFill/>
          <a:ln/>
        </p:spPr>
        <p:txBody>
          <a:bodyPr wrap="square" rtlCol="0" anchor="ctr"/>
          <a:lstStyle/>
          <a:p>
            <a:pPr marL="0" indent="0" algn="ctr">
              <a:buNone/>
            </a:pPr>
            <a:r>
              <a:rPr lang="en-US" sz="1200" u="sng" dirty="0">
                <a:solidFill>
                  <a:srgbClr val="1F4E79"/>
                </a:solidFill>
                <a:latin typeface="Calibri" pitchFamily="34" charset="0"/>
                <a:ea typeface="Calibri" pitchFamily="34" charset="-122"/>
                <a:cs typeface="Calibri" pitchFamily="34" charset="-120"/>
              </a:rPr>
              <a:t>https://public.tableau.com/app/profile/husnain.afzal/viz/CyclisticBikeShareAnalysis2023</a:t>
            </a:r>
            <a:endParaRPr lang="en-US" sz="1200" dirty="0"/>
          </a:p>
        </p:txBody>
      </p:sp>
      <p:sp>
        <p:nvSpPr>
          <p:cNvPr id="8" name="Text 6"/>
          <p:cNvSpPr/>
          <p:nvPr/>
        </p:nvSpPr>
        <p:spPr>
          <a:xfrm>
            <a:off x="11643055" y="6492240"/>
            <a:ext cx="365760" cy="274320"/>
          </a:xfrm>
          <a:prstGeom prst="rect">
            <a:avLst/>
          </a:prstGeom>
          <a:noFill/>
          <a:ln/>
        </p:spPr>
        <p:txBody>
          <a:bodyPr wrap="square" rtlCol="0" anchor="ctr"/>
          <a:lstStyle/>
          <a:p>
            <a:pPr marL="0" indent="0" algn="r">
              <a:buNone/>
            </a:pPr>
            <a:r>
              <a:rPr lang="en-US" sz="1000" dirty="0">
                <a:solidFill>
                  <a:srgbClr val="9AA7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194560"/>
            <a:ext cx="11094415" cy="9144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3" name="Text 1"/>
          <p:cNvSpPr/>
          <p:nvPr/>
        </p:nvSpPr>
        <p:spPr>
          <a:xfrm>
            <a:off x="548640" y="3063240"/>
            <a:ext cx="11094415" cy="548640"/>
          </a:xfrm>
          <a:prstGeom prst="rect">
            <a:avLst/>
          </a:prstGeom>
          <a:noFill/>
          <a:ln/>
        </p:spPr>
        <p:txBody>
          <a:bodyPr wrap="square" rtlCol="0" anchor="ctr"/>
          <a:lstStyle/>
          <a:p>
            <a:pPr marL="0" indent="0" algn="ctr">
              <a:buNone/>
            </a:pPr>
            <a:r>
              <a:rPr lang="en-US" sz="2200" dirty="0">
                <a:solidFill>
                  <a:srgbClr val="F28E2B"/>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548640" y="4114800"/>
            <a:ext cx="11094415" cy="1280160"/>
          </a:xfrm>
          <a:prstGeom prst="rect">
            <a:avLst/>
          </a:prstGeom>
          <a:noFill/>
          <a:ln/>
        </p:spPr>
        <p:txBody>
          <a:bodyPr wrap="square" rtlCol="0" anchor="ctr"/>
          <a:lstStyle/>
          <a:p>
            <a:pPr marL="0" indent="0" algn="ctr">
              <a:lnSpc>
                <a:spcPct val="120000"/>
              </a:lnSpc>
              <a:buNone/>
            </a:pPr>
            <a:r>
              <a:rPr lang="en-US" sz="1600" b="1" dirty="0">
                <a:solidFill>
                  <a:srgbClr val="FFFFFF"/>
                </a:solidFill>
                <a:latin typeface="Calibri" pitchFamily="34" charset="0"/>
                <a:ea typeface="Calibri" pitchFamily="34" charset="-122"/>
                <a:cs typeface="Calibri" pitchFamily="34" charset="-120"/>
              </a:rPr>
              <a:t>Husnain Afzal
</a:t>
            </a:r>
            <a:endParaRPr lang="en-US" sz="1600" dirty="0"/>
          </a:p>
          <a:p>
            <a:pPr marL="0" indent="0" algn="ctr">
              <a:lnSpc>
                <a:spcPct val="120000"/>
              </a:lnSpc>
              <a:buNone/>
            </a:pPr>
            <a:r>
              <a:rPr lang="en-US" sz="1400" dirty="0">
                <a:solidFill>
                  <a:srgbClr val="FFFFFF"/>
                </a:solidFill>
                <a:latin typeface="Calibri" pitchFamily="34" charset="0"/>
                <a:ea typeface="Calibri" pitchFamily="34" charset="-122"/>
                <a:cs typeface="Calibri" pitchFamily="34" charset="-120"/>
              </a:rPr>
              <a:t>BS Data Science
</a:t>
            </a:r>
            <a:endParaRPr lang="en-US" sz="1600" dirty="0"/>
          </a:p>
          <a:p>
            <a:pPr marL="0" indent="0" algn="ctr">
              <a:lnSpc>
                <a:spcPct val="120000"/>
              </a:lnSpc>
              <a:buNone/>
            </a:pPr>
            <a:r>
              <a:rPr lang="en-US" sz="1400" dirty="0">
                <a:solidFill>
                  <a:srgbClr val="FFFFFF"/>
                </a:solidFill>
                <a:latin typeface="Calibri" pitchFamily="34" charset="0"/>
                <a:ea typeface="Calibri" pitchFamily="34" charset="-122"/>
                <a:cs typeface="Calibri" pitchFamily="34" charset="-120"/>
              </a:rPr>
              <a:t>Government College University Faisalabad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486</Words>
  <Application>Microsoft Office PowerPoint</Application>
  <PresentationFormat>Widescreen</PresentationFormat>
  <Paragraphs>135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Husnain Afzal</cp:lastModifiedBy>
  <cp:revision>2</cp:revision>
  <dcterms:created xsi:type="dcterms:W3CDTF">2026-07-30T07:17:10Z</dcterms:created>
  <dcterms:modified xsi:type="dcterms:W3CDTF">2026-07-30T07:21:31Z</dcterms:modified>
</cp:coreProperties>
</file>